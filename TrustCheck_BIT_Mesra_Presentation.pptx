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017520" y="1920240"/>
            <a:ext cx="84124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600" b="1">
                <a:solidFill>
                  <a:srgbClr val="18202F"/>
                </a:solidFill>
                <a:latin typeface="Franklin Gothic Demi"/>
              </a:defRPr>
            </a:pPr>
            <a:r>
              <a:t>TrustCheck</a:t>
            </a:r>
          </a:p>
          <a:p>
            <a:pPr>
              <a:spcBef>
                <a:spcPts val="600"/>
              </a:spcBef>
              <a:defRPr sz="2400" b="1">
                <a:solidFill>
                  <a:srgbClr val="507337"/>
                </a:solidFill>
                <a:latin typeface="Franklin Gothic Demi"/>
              </a:defRPr>
            </a:pPr>
            <a:r>
              <a:t>Fake Review Detection &amp; Trust Score System</a:t>
            </a:r>
          </a:p>
          <a:p>
            <a:pPr>
              <a:spcBef>
                <a:spcPts val="800"/>
              </a:spcBef>
              <a:defRPr sz="1500">
                <a:solidFill>
                  <a:srgbClr val="5A6978"/>
                </a:solidFill>
                <a:latin typeface="Franklin Gothic Book"/>
              </a:defRPr>
            </a:pPr>
            <a:r>
              <a:t>Mid-Semester Project Presentation | Department of Computer Science &amp;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0" y="4114800"/>
            <a:ext cx="576072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5A6978"/>
                </a:solidFill>
                <a:latin typeface="Franklin Gothic Demi"/>
              </a:defRPr>
            </a:pPr>
            <a:r>
              <a:t>Presented By:</a:t>
            </a:r>
          </a:p>
          <a:p>
            <a:pPr>
              <a:spcBef>
                <a:spcPts val="300"/>
              </a:spcBef>
              <a:defRPr sz="1400" b="1">
                <a:solidFill>
                  <a:srgbClr val="002060"/>
                </a:solidFill>
                <a:latin typeface="Franklin Gothic Book"/>
              </a:defRPr>
            </a:pPr>
            <a:r>
              <a:t>• Muskan Jain  [BCA/25014/14]</a:t>
            </a:r>
          </a:p>
          <a:p>
            <a:pPr>
              <a:spcBef>
                <a:spcPts val="300"/>
              </a:spcBef>
              <a:defRPr sz="1400" b="1">
                <a:solidFill>
                  <a:srgbClr val="002060"/>
                </a:solidFill>
                <a:latin typeface="Franklin Gothic Book"/>
              </a:defRPr>
            </a:pPr>
            <a:r>
              <a:t>• Disha Kodasia  [BCA/25006/24]</a:t>
            </a:r>
          </a:p>
          <a:p>
            <a:pPr>
              <a:spcBef>
                <a:spcPts val="800"/>
              </a:spcBef>
              <a:defRPr sz="1300">
                <a:solidFill>
                  <a:srgbClr val="5A6978"/>
                </a:solidFill>
                <a:latin typeface="Franklin Gothic Book"/>
              </a:defRPr>
            </a:pPr>
            <a:r>
              <a:t>Under the Supervision of:</a:t>
            </a:r>
          </a:p>
          <a:p>
            <a:pPr>
              <a:spcBef>
                <a:spcPts val="200"/>
              </a:spcBef>
              <a:defRPr sz="1600" b="1">
                <a:solidFill>
                  <a:srgbClr val="C00000"/>
                </a:solidFill>
                <a:latin typeface="Franklin Gothic Demi"/>
              </a:defRPr>
            </a:pPr>
            <a:r>
              <a:t>Mr. Santosh Kumar Sharma</a:t>
            </a:r>
          </a:p>
          <a:p>
            <a:pPr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Assistant Professor, Dept. of CSE, BIT Mesra, Jaipur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1645920"/>
            <a:ext cx="512064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83080"/>
            <a:ext cx="46634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2060"/>
                </a:solidFill>
                <a:latin typeface="Franklin Gothic Demi"/>
              </a:defRPr>
            </a:pPr>
            <a:r>
              <a:t>01. Introduction</a:t>
            </a:r>
          </a:p>
          <a:p>
            <a:pPr>
              <a:spcBef>
                <a:spcPts val="300"/>
              </a:spcBef>
              <a:defRPr sz="1250">
                <a:solidFill>
                  <a:srgbClr val="5A6978"/>
                </a:solidFill>
                <a:latin typeface="Franklin Gothic Book"/>
              </a:defRPr>
            </a:pPr>
            <a:r>
              <a:t>Why fake reviews are a major problem for online buyers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62072"/>
            <a:ext cx="512064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999232"/>
            <a:ext cx="46634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2060"/>
                </a:solidFill>
                <a:latin typeface="Franklin Gothic Demi"/>
              </a:defRPr>
            </a:pPr>
            <a:r>
              <a:t>02. Problem Statement &amp; Objectives</a:t>
            </a:r>
          </a:p>
          <a:p>
            <a:pPr>
              <a:spcBef>
                <a:spcPts val="300"/>
              </a:spcBef>
              <a:defRPr sz="1250">
                <a:solidFill>
                  <a:srgbClr val="5A6978"/>
                </a:solidFill>
                <a:latin typeface="Franklin Gothic Book"/>
              </a:defRPr>
            </a:pPr>
            <a:r>
              <a:t>What problem we are solving and our project goals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78224"/>
            <a:ext cx="512064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15384"/>
            <a:ext cx="46634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2060"/>
                </a:solidFill>
                <a:latin typeface="Franklin Gothic Demi"/>
              </a:defRPr>
            </a:pPr>
            <a:r>
              <a:t>03. Dataset Description</a:t>
            </a:r>
          </a:p>
          <a:p>
            <a:pPr>
              <a:spcBef>
                <a:spcPts val="300"/>
              </a:spcBef>
              <a:defRPr sz="1250">
                <a:solidFill>
                  <a:srgbClr val="5A6978"/>
                </a:solidFill>
                <a:latin typeface="Franklin Gothic Book"/>
              </a:defRPr>
            </a:pPr>
            <a:r>
              <a:t>40,000+ real and fake reviews used to train our AI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294376"/>
            <a:ext cx="512064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431536"/>
            <a:ext cx="46634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2060"/>
                </a:solidFill>
                <a:latin typeface="Franklin Gothic Demi"/>
              </a:defRPr>
            </a:pPr>
            <a:r>
              <a:t>04. Design and Methodology</a:t>
            </a:r>
          </a:p>
          <a:p>
            <a:pPr>
              <a:spcBef>
                <a:spcPts val="300"/>
              </a:spcBef>
              <a:defRPr sz="1250">
                <a:solidFill>
                  <a:srgbClr val="5A6978"/>
                </a:solidFill>
                <a:latin typeface="Franklin Gothic Book"/>
              </a:defRPr>
            </a:pPr>
            <a:r>
              <a:t>Machine learning algorithms, Trust Score formula, &amp; system design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12064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6634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2060"/>
                </a:solidFill>
                <a:latin typeface="Franklin Gothic Demi"/>
              </a:defRPr>
            </a:pPr>
            <a:r>
              <a:t>05. Research Contributions</a:t>
            </a:r>
          </a:p>
          <a:p>
            <a:pPr>
              <a:spcBef>
                <a:spcPts val="300"/>
              </a:spcBef>
              <a:defRPr sz="1250">
                <a:solidFill>
                  <a:srgbClr val="5A6978"/>
                </a:solidFill>
                <a:latin typeface="Franklin Gothic Book"/>
              </a:defRPr>
            </a:pPr>
            <a:r>
              <a:t>What we built: real vs. fake rating comparison &amp; live web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862072"/>
            <a:ext cx="512064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999232"/>
            <a:ext cx="46634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2060"/>
                </a:solidFill>
                <a:latin typeface="Franklin Gothic Demi"/>
              </a:defRPr>
            </a:pPr>
            <a:r>
              <a:t>06. Conclusions &amp; Completed Work</a:t>
            </a:r>
          </a:p>
          <a:p>
            <a:pPr>
              <a:spcBef>
                <a:spcPts val="300"/>
              </a:spcBef>
              <a:defRPr sz="1250">
                <a:solidFill>
                  <a:srgbClr val="5A6978"/>
                </a:solidFill>
                <a:latin typeface="Franklin Gothic Book"/>
              </a:defRPr>
            </a:pPr>
            <a:r>
              <a:t>Summary of completed milestones and verified results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78224"/>
            <a:ext cx="512064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215384"/>
            <a:ext cx="46634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2060"/>
                </a:solidFill>
                <a:latin typeface="Franklin Gothic Demi"/>
              </a:defRPr>
            </a:pPr>
            <a:r>
              <a:t>07. References</a:t>
            </a:r>
          </a:p>
          <a:p>
            <a:pPr>
              <a:spcBef>
                <a:spcPts val="300"/>
              </a:spcBef>
              <a:defRPr sz="1250">
                <a:solidFill>
                  <a:srgbClr val="5A6978"/>
                </a:solidFill>
                <a:latin typeface="Franklin Gothic Book"/>
              </a:defRPr>
            </a:pPr>
            <a:r>
              <a:t>Key research papers and tools used in this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164592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874520"/>
            <a:ext cx="29718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6A34A"/>
                </a:solidFill>
                <a:latin typeface="Franklin Gothic Demi"/>
              </a:defRPr>
            </a:pPr>
            <a:r>
              <a:t>Why Reviews Matter</a:t>
            </a:r>
          </a:p>
          <a:p>
            <a:pPr>
              <a:spcBef>
                <a:spcPts val="1400"/>
              </a:spcBef>
              <a:defRPr sz="1400">
                <a:solidFill>
                  <a:srgbClr val="18202F"/>
                </a:solidFill>
                <a:latin typeface="Franklin Gothic Book"/>
              </a:defRPr>
            </a:pPr>
            <a:r>
              <a:t>• 93% of customers check online reviews before making a purchase.</a:t>
            </a:r>
          </a:p>
          <a:p>
            <a:pPr>
              <a:spcBef>
                <a:spcPts val="1400"/>
              </a:spcBef>
              <a:defRPr sz="1400">
                <a:solidFill>
                  <a:srgbClr val="18202F"/>
                </a:solidFill>
                <a:latin typeface="Franklin Gothic Book"/>
              </a:defRPr>
            </a:pPr>
            <a:r>
              <a:t>• Star ratings decide which products show up first on Amazon and Flipkart.</a:t>
            </a:r>
          </a:p>
          <a:p>
            <a:pPr>
              <a:spcBef>
                <a:spcPts val="1400"/>
              </a:spcBef>
              <a:defRPr sz="1400">
                <a:solidFill>
                  <a:srgbClr val="18202F"/>
                </a:solidFill>
                <a:latin typeface="Franklin Gothic Book"/>
              </a:defRPr>
            </a:pPr>
            <a:r>
              <a:t>• Buyers trust reviews just like personal recommendations from friends.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64592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874520"/>
            <a:ext cx="29718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D97706"/>
                </a:solidFill>
                <a:latin typeface="Franklin Gothic Demi"/>
              </a:defRPr>
            </a:pPr>
            <a:r>
              <a:t>The Fake Review Problem</a:t>
            </a:r>
          </a:p>
          <a:p>
            <a:pPr>
              <a:spcBef>
                <a:spcPts val="1400"/>
              </a:spcBef>
              <a:defRPr sz="1400">
                <a:solidFill>
                  <a:srgbClr val="18202F"/>
                </a:solidFill>
                <a:latin typeface="Franklin Gothic Book"/>
              </a:defRPr>
            </a:pPr>
            <a:r>
              <a:t>• Many sellers buy fake 5-star reviews to boost sales and cheat search algorithms.</a:t>
            </a:r>
          </a:p>
          <a:p>
            <a:pPr>
              <a:spcBef>
                <a:spcPts val="1400"/>
              </a:spcBef>
              <a:defRPr sz="1400">
                <a:solidFill>
                  <a:srgbClr val="18202F"/>
                </a:solidFill>
                <a:latin typeface="Franklin Gothic Book"/>
              </a:defRPr>
            </a:pPr>
            <a:r>
              <a:t>• Computer bots and paid review groups write convincing reviews that sound genuine.</a:t>
            </a:r>
          </a:p>
          <a:p>
            <a:pPr>
              <a:spcBef>
                <a:spcPts val="1400"/>
              </a:spcBef>
              <a:defRPr sz="1400">
                <a:solidFill>
                  <a:srgbClr val="18202F"/>
                </a:solidFill>
                <a:latin typeface="Franklin Gothic Book"/>
              </a:defRPr>
            </a:pPr>
            <a:r>
              <a:t>• Buyers get misled into spending money on poor or defective products.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64592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49640" y="1874520"/>
            <a:ext cx="29718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02060"/>
                </a:solidFill>
                <a:latin typeface="Franklin Gothic Demi"/>
              </a:defRPr>
            </a:pPr>
            <a:r>
              <a:t>Our Solution: TrustCheck</a:t>
            </a:r>
          </a:p>
          <a:p>
            <a:pPr>
              <a:spcBef>
                <a:spcPts val="1400"/>
              </a:spcBef>
              <a:defRPr sz="1400">
                <a:solidFill>
                  <a:srgbClr val="18202F"/>
                </a:solidFill>
                <a:latin typeface="Franklin Gothic Book"/>
              </a:defRPr>
            </a:pPr>
            <a:r>
              <a:t>• A smart web system that scans customer reviews using Machine Learning.</a:t>
            </a:r>
          </a:p>
          <a:p>
            <a:pPr>
              <a:spcBef>
                <a:spcPts val="1400"/>
              </a:spcBef>
              <a:defRPr sz="1400">
                <a:solidFill>
                  <a:srgbClr val="18202F"/>
                </a:solidFill>
                <a:latin typeface="Franklin Gothic Book"/>
              </a:defRPr>
            </a:pPr>
            <a:r>
              <a:t>• Automatically identifies whether each review is Genuine or Fake.</a:t>
            </a:r>
          </a:p>
          <a:p>
            <a:pPr>
              <a:spcBef>
                <a:spcPts val="1400"/>
              </a:spcBef>
              <a:defRPr sz="1400">
                <a:solidFill>
                  <a:srgbClr val="18202F"/>
                </a:solidFill>
                <a:latin typeface="Franklin Gothic Book"/>
              </a:defRPr>
            </a:pPr>
            <a:r>
              <a:t>• Calculates an honest Trust Score (0 to 100) so consumers know the real truth.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1554480"/>
            <a:ext cx="1051560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C00000"/>
                </a:solidFill>
                <a:latin typeface="Franklin Gothic Demi"/>
              </a:defRPr>
            </a:pPr>
            <a:r>
              <a:t>THE PROBLEM WE ARE SOLVING</a:t>
            </a:r>
          </a:p>
          <a:p>
            <a:pPr>
              <a:spcBef>
                <a:spcPts val="300"/>
              </a:spcBef>
              <a:defRPr sz="1400">
                <a:solidFill>
                  <a:srgbClr val="18202F"/>
                </a:solidFill>
                <a:latin typeface="Franklin Gothic Book"/>
              </a:defRPr>
            </a:pPr>
            <a:r>
              <a:t>Shopping websites simply calculate the average of all reviews. When sellers flood a product with fake 5-star reviews, the rating looks great even when the product is poor. Normal buyers have no simple way to know the true rating.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512064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136392"/>
            <a:ext cx="4663440" cy="122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6A34A"/>
                </a:solidFill>
                <a:latin typeface="Franklin Gothic Demi"/>
              </a:defRPr>
            </a:pPr>
            <a:r>
              <a:t>Goal 1: Train an Accurate AI Model</a:t>
            </a:r>
          </a:p>
          <a:p>
            <a:pPr>
              <a:spcBef>
                <a:spcPts val="400"/>
              </a:spcBef>
              <a:defRPr sz="1350">
                <a:solidFill>
                  <a:srgbClr val="18202F"/>
                </a:solidFill>
                <a:latin typeface="Franklin Gothic Book"/>
              </a:defRPr>
            </a:pPr>
            <a:r>
              <a:t>Build a Machine Learning model that classifies review text as Genuine or Fake with high accuracy.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971800"/>
            <a:ext cx="512064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3136392"/>
            <a:ext cx="4663440" cy="122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6A34A"/>
                </a:solidFill>
                <a:latin typeface="Franklin Gothic Demi"/>
              </a:defRPr>
            </a:pPr>
            <a:r>
              <a:t>Goal 2: Calculate a Clear Trust Score</a:t>
            </a:r>
          </a:p>
          <a:p>
            <a:pPr>
              <a:spcBef>
                <a:spcPts val="400"/>
              </a:spcBef>
              <a:defRPr sz="1350">
                <a:solidFill>
                  <a:srgbClr val="18202F"/>
                </a:solidFill>
                <a:latin typeface="Franklin Gothic Book"/>
              </a:defRPr>
            </a:pPr>
            <a:r>
              <a:t>Create a simple 0 to 100 Trust Score that reflects the true reliability of the product.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27448"/>
            <a:ext cx="512064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892040"/>
            <a:ext cx="4663440" cy="122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6A34A"/>
                </a:solidFill>
                <a:latin typeface="Franklin Gothic Demi"/>
              </a:defRPr>
            </a:pPr>
            <a:r>
              <a:t>Goal 3: Reveal the Adjusted Real Rating</a:t>
            </a:r>
          </a:p>
          <a:p>
            <a:pPr>
              <a:spcBef>
                <a:spcPts val="400"/>
              </a:spcBef>
              <a:defRPr sz="1350">
                <a:solidFill>
                  <a:srgbClr val="18202F"/>
                </a:solidFill>
                <a:latin typeface="Franklin Gothic Book"/>
              </a:defRPr>
            </a:pPr>
            <a:r>
              <a:t>Recalculate the product rating after filtering out the fake reviews so buyers see the genuine score.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727448"/>
            <a:ext cx="512064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892040"/>
            <a:ext cx="4663440" cy="122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6A34A"/>
                </a:solidFill>
                <a:latin typeface="Franklin Gothic Demi"/>
              </a:defRPr>
            </a:pPr>
            <a:r>
              <a:t>Goal 4: Build an Easy Web Dashboard</a:t>
            </a:r>
          </a:p>
          <a:p>
            <a:pPr>
              <a:spcBef>
                <a:spcPts val="400"/>
              </a:spcBef>
              <a:defRPr sz="1350">
                <a:solidFill>
                  <a:srgbClr val="18202F"/>
                </a:solidFill>
                <a:latin typeface="Franklin Gothic Book"/>
              </a:defRPr>
            </a:pPr>
            <a:r>
              <a:t>Create an intuitive, user-friendly website where anyone can paste reviews, upload a CSV, or test product links.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164592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828800"/>
            <a:ext cx="46634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002060"/>
                </a:solidFill>
                <a:latin typeface="Franklin Gothic Demi"/>
              </a:defRPr>
            </a:pPr>
            <a:r>
              <a:t>THE DATASET USED</a:t>
            </a:r>
          </a:p>
          <a:p>
            <a:pPr algn="ctr">
              <a:spcBef>
                <a:spcPts val="200"/>
              </a:spcBef>
              <a:defRPr sz="2000" b="1">
                <a:solidFill>
                  <a:srgbClr val="18202F"/>
                </a:solidFill>
                <a:latin typeface="Franklin Gothic Demi"/>
              </a:defRPr>
            </a:pPr>
            <a:r>
              <a:t>Kaggle Fake Reviews Dataset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Total Reviews: 40,432 labeled product reviews.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Balanced Dataset: Exactly 50% Genuine reviews and 50% Fake reviews (prevents model bias).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Genuine Reviews (OR): Real customer experiences mentioning specific pros, cons, and usage details.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Fake Reviews (CG): Synthetic reviews generated by computer algorithms using repetitive praise.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Categories: Electronics, Home &amp; Kitchen, Sports, Books, Clothing, and Personal Care.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6634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6A34A"/>
                </a:solidFill>
                <a:latin typeface="Franklin Gothic Demi"/>
              </a:defRPr>
            </a:pPr>
            <a:r>
              <a:t>TEXT PREPROCESSING</a:t>
            </a:r>
          </a:p>
          <a:p>
            <a:pPr algn="ctr">
              <a:spcBef>
                <a:spcPts val="200"/>
              </a:spcBef>
              <a:defRPr sz="2000" b="1">
                <a:solidFill>
                  <a:srgbClr val="18202F"/>
                </a:solidFill>
                <a:latin typeface="Franklin Gothic Demi"/>
              </a:defRPr>
            </a:pPr>
            <a:r>
              <a:t>How We Prepared the Text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Text Cleaning: Converted to lowercase, stripped punctuation, symbols, and extra whitespace.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Stop-Word Removal: Filtered common non-predictive words ('is', 'the', 'at') to reduce noise.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TF-IDF Vectorization: Computed numerical weights for single words and 2-word phrases ('must buy').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Feature Selection: Selected top 5,000 informative terms enabling ultra-fast (&lt;50ms) inference.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Train / Test Split: 80% used for model training (32,345) and 20% reserved for testing (8,087).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164592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83080"/>
            <a:ext cx="46634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002060"/>
                </a:solidFill>
                <a:latin typeface="Franklin Gothic Demi"/>
              </a:defRPr>
            </a:pPr>
            <a:r>
              <a:t>ALGORITHMS TESTED</a:t>
            </a:r>
          </a:p>
          <a:p>
            <a:pPr algn="ctr">
              <a:spcBef>
                <a:spcPts val="200"/>
              </a:spcBef>
              <a:defRPr sz="1900" b="1">
                <a:solidFill>
                  <a:srgbClr val="18202F"/>
                </a:solidFill>
                <a:latin typeface="Franklin Gothic Demi"/>
              </a:defRPr>
            </a:pPr>
            <a:r>
              <a:t>Model Comparison &amp; Trust Metric</a:t>
            </a:r>
          </a:p>
          <a:p>
            <a:pPr algn="ctr">
              <a:spcBef>
                <a:spcPts val="800"/>
              </a:spcBef>
              <a:defRPr sz="1250" b="0">
                <a:solidFill>
                  <a:srgbClr val="18202F"/>
                </a:solidFill>
                <a:latin typeface="Franklin Gothic Book"/>
              </a:defRPr>
            </a:pPr>
            <a:r>
              <a:t>Model Benchmark Comparison:</a:t>
            </a:r>
          </a:p>
          <a:p>
            <a:pPr algn="ctr">
              <a:spcBef>
                <a:spcPts val="400"/>
              </a:spcBef>
              <a:defRPr sz="1300" b="0">
                <a:solidFill>
                  <a:srgbClr val="18202F"/>
                </a:solidFill>
                <a:latin typeface="Franklin Gothic Book"/>
              </a:defRPr>
            </a:pPr>
            <a:r>
              <a:t>1. Multinomial Naive Bayes: 85.2% Accuracy</a:t>
            </a:r>
          </a:p>
          <a:p>
            <a:pPr algn="ctr">
              <a:spcBef>
                <a:spcPts val="400"/>
              </a:spcBef>
              <a:defRPr sz="1350" b="1">
                <a:solidFill>
                  <a:srgbClr val="002060"/>
                </a:solidFill>
                <a:latin typeface="Franklin Gothic Demi"/>
              </a:defRPr>
            </a:pPr>
            <a:r>
              <a:t>2. Logistic Regression: 89.4% Accuracy (Champion)</a:t>
            </a:r>
          </a:p>
          <a:p>
            <a:pPr algn="ctr">
              <a:spcBef>
                <a:spcPts val="800"/>
              </a:spcBef>
              <a:defRPr sz="1200" b="0">
                <a:solidFill>
                  <a:srgbClr val="18202F"/>
                </a:solidFill>
                <a:latin typeface="Franklin Gothic Book"/>
              </a:defRPr>
            </a:pPr>
            <a:r>
              <a:t>Why Logistic Regression? Better captures phrase associations and produces calibrated probability estimates.</a:t>
            </a:r>
          </a:p>
          <a:p>
            <a:pPr algn="ctr">
              <a:spcBef>
                <a:spcPts val="1000"/>
              </a:spcBef>
              <a:defRPr sz="1300" b="1">
                <a:solidFill>
                  <a:srgbClr val="16A34A"/>
                </a:solidFill>
                <a:latin typeface="Franklin Gothic Demi"/>
              </a:defRPr>
            </a:pPr>
            <a:r>
              <a:t>Mathematical Trust Score Formula:</a:t>
            </a:r>
          </a:p>
          <a:p>
            <a:pPr algn="ctr">
              <a:spcBef>
                <a:spcPts val="300"/>
              </a:spcBef>
              <a:defRPr sz="1400" b="1">
                <a:solidFill>
                  <a:srgbClr val="16A34A"/>
                </a:solidFill>
                <a:latin typeface="Franklin Gothic Demi"/>
              </a:defRPr>
            </a:pPr>
            <a:r>
              <a:t>Trust Score = 100 - (Fake % x Confidence / 100)</a:t>
            </a:r>
          </a:p>
          <a:p>
            <a:pPr algn="ctr">
              <a:spcBef>
                <a:spcPts val="600"/>
              </a:spcBef>
              <a:defRPr sz="1200" b="0">
                <a:solidFill>
                  <a:srgbClr val="5A6978"/>
                </a:solidFill>
                <a:latin typeface="Franklin Gothic Book"/>
              </a:defRPr>
            </a:pPr>
            <a:r>
              <a:t>Dynamically weights model certainty so highly confident fake reviews are penalized proportionally.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783080"/>
            <a:ext cx="46634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6A34A"/>
                </a:solidFill>
                <a:latin typeface="Franklin Gothic Demi"/>
              </a:defRPr>
            </a:pPr>
            <a:r>
              <a:t>SYSTEM ARCHITECTURE</a:t>
            </a:r>
          </a:p>
          <a:p>
            <a:pPr algn="ctr">
              <a:spcBef>
                <a:spcPts val="200"/>
              </a:spcBef>
              <a:defRPr sz="1900" b="1">
                <a:solidFill>
                  <a:srgbClr val="18202F"/>
                </a:solidFill>
                <a:latin typeface="Franklin Gothic Demi"/>
              </a:defRPr>
            </a:pPr>
            <a:r>
              <a:t>How the System Works (4 Steps)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02060"/>
                </a:solidFill>
                <a:latin typeface="Franklin Gothic Demi"/>
              </a:defRPr>
            </a:pPr>
            <a:r>
              <a:t>Step 1: Input Reviews</a:t>
            </a:r>
          </a:p>
          <a:p>
            <a:pPr algn="ctr">
              <a:spcBef>
                <a:spcPts val="2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User enters Amazon/Flipkart URL, uploads CSV, or pastes raw text.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02060"/>
                </a:solidFill>
                <a:latin typeface="Franklin Gothic Demi"/>
              </a:defRPr>
            </a:pPr>
            <a:r>
              <a:t>Step 2: Clean &amp; Vectorize</a:t>
            </a:r>
          </a:p>
          <a:p>
            <a:pPr algn="ctr">
              <a:spcBef>
                <a:spcPts val="2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Text is preprocessed and converted into TF-IDF vectors in &lt;10ms.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02060"/>
                </a:solidFill>
                <a:latin typeface="Franklin Gothic Demi"/>
              </a:defRPr>
            </a:pPr>
            <a:r>
              <a:t>Step 3: ML Model Prediction</a:t>
            </a:r>
          </a:p>
          <a:p>
            <a:pPr algn="ctr">
              <a:spcBef>
                <a:spcPts val="2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Logistic Regression classifies Genuine vs. Fake with confidence %.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02060"/>
                </a:solidFill>
                <a:latin typeface="Franklin Gothic Demi"/>
              </a:defRPr>
            </a:pPr>
            <a:r>
              <a:t>Step 4: Interactive Dashboard</a:t>
            </a:r>
          </a:p>
          <a:p>
            <a:pPr algn="ctr">
              <a:spcBef>
                <a:spcPts val="2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Displays Trust Score, recalculated rating, and flagged risk vectors.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1645920"/>
            <a:ext cx="51206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83080"/>
            <a:ext cx="466344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6A34A"/>
                </a:solidFill>
                <a:latin typeface="Franklin Gothic Demi"/>
              </a:defRPr>
            </a:pPr>
            <a:r>
              <a:t>1. Dual-Rating Comparison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Shows the advertised rating right next to the Genuine-Only Rating.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Instantly exposes artificial rating inflation (e.g. 4.6★ advertised vs 3.8★ genuine).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Allows buyers to see what real verified customers actually experienced.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783080"/>
            <a:ext cx="466344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2060"/>
                </a:solidFill>
                <a:latin typeface="Franklin Gothic Demi"/>
              </a:defRPr>
            </a:pPr>
            <a:r>
              <a:t>2. 4-Vector Review Forensics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Doesn't just give a blind label — explains why each review was flagged: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Language Risk: repetitive praise and extreme exaggeration ('best in history').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Template Risk: copy-pasted sentences shared across multiple products.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Behavior Risk: reviews lacking concrete product details.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931920"/>
            <a:ext cx="51206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069080"/>
            <a:ext cx="466344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D97706"/>
                </a:solidFill>
                <a:latin typeface="Franklin Gothic Demi"/>
              </a:defRPr>
            </a:pPr>
            <a:r>
              <a:t>3. Live Storefront Scraping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Automatically extracts customer reviews from Amazon and Flipkart product links.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Uses a 2-stage scraper (BeautifulSoup + Selenium fallback) for high reliability.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Falls back gracefully to manual paste if a website is protected by CAPTCHAs.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1206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4069080"/>
            <a:ext cx="466344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C00000"/>
                </a:solidFill>
                <a:latin typeface="Franklin Gothic Demi"/>
              </a:defRPr>
            </a:pPr>
            <a:r>
              <a:t>4. Deployed Working System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Fully deployed and live on the internet at trust-check-rouge.vercel.app.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Sub-second analysis speed (under 50ms per batch).</a:t>
            </a:r>
          </a:p>
          <a:p>
            <a:pPr>
              <a:spcBef>
                <a:spcPts val="3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• 100% private: reviews are processed in memory and never saved to a database.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164592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828800"/>
            <a:ext cx="46634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6A34A"/>
                </a:solidFill>
                <a:latin typeface="Franklin Gothic Demi"/>
              </a:defRPr>
            </a:pPr>
            <a:r>
              <a:t>CORE ML ACHIEVEMENTS</a:t>
            </a:r>
          </a:p>
          <a:p>
            <a:pPr algn="ctr">
              <a:spcBef>
                <a:spcPts val="200"/>
              </a:spcBef>
              <a:defRPr sz="1900" b="1">
                <a:solidFill>
                  <a:srgbClr val="18202F"/>
                </a:solidFill>
                <a:latin typeface="Franklin Gothic Demi"/>
              </a:defRPr>
            </a:pPr>
            <a:r>
              <a:t>Model &amp; Algorithm Completed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40,432 Reviews Processed: Cleaned, preprocessed, and balanced Kaggle dataset.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89.4% Classifier Accuracy: Logistic Regression champion model successfully trained and validated.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Algorithm Benchmark: Outperformed Multinomial Naive Bayes (85.2%) on identical data split.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Mathematical Trust Score: Custom 0 to 100 metric implemented with confidence-weighted penalty.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Lightweight &amp; Efficient: Model footprint under 12MB RAM enabling instant inference in &lt;50ms.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6634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002060"/>
                </a:solidFill>
                <a:latin typeface="Franklin Gothic Demi"/>
              </a:defRPr>
            </a:pPr>
            <a:r>
              <a:t>SYSTEM &amp; DEPLOYMENT</a:t>
            </a:r>
          </a:p>
          <a:p>
            <a:pPr algn="ctr">
              <a:spcBef>
                <a:spcPts val="200"/>
              </a:spcBef>
              <a:defRPr sz="1900" b="1">
                <a:solidFill>
                  <a:srgbClr val="18202F"/>
                </a:solidFill>
                <a:latin typeface="Franklin Gothic Demi"/>
              </a:defRPr>
            </a:pPr>
            <a:r>
              <a:t>Platform Implementation Completed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Dual-Rating Recalculation: Filters deceptive reviews to expose the true genuine product rating.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4-Vector Forensics Engine: Accurately tags language anomalies, templates, and behavioral patterns.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Full-Stack Python &amp; Next.js: High-performance Flask REST API integrated with a clean responsive web app.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Multi-Channel Ingestion: Built support for direct text input, batch CSV file upload, and storefront URLs.</a:t>
            </a:r>
          </a:p>
          <a:p>
            <a:pPr algn="ctr">
              <a:spcBef>
                <a:spcPts val="1000"/>
              </a:spcBef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Production Cloud Deployment: System is live, functional, and publicly testable on Vercel.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1645920"/>
            <a:ext cx="105156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9669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400" b="1">
                <a:solidFill>
                  <a:srgbClr val="002060"/>
                </a:solidFill>
                <a:latin typeface="Franklin Gothic Demi"/>
              </a:defRPr>
            </a:pPr>
            <a:r>
              <a:t>[1]  Jindal, N., &amp; Liu, B. (2008)</a:t>
            </a:r>
          </a:p>
          <a:p>
            <a:pPr algn="ctr">
              <a:spcBef>
                <a:spcPts val="2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'Opinion spam and analysis.' Proceedings of WSDM '08. (The foundational research paper defining review spam).</a:t>
            </a:r>
          </a:p>
          <a:p>
            <a:pPr algn="ctr">
              <a:spcBef>
                <a:spcPts val="800"/>
              </a:spcBef>
              <a:defRPr sz="1400" b="1">
                <a:solidFill>
                  <a:srgbClr val="002060"/>
                </a:solidFill>
                <a:latin typeface="Franklin Gothic Demi"/>
              </a:defRPr>
            </a:pPr>
            <a:r>
              <a:t>[2]  Ott, M., Choi, Y., Cardie, C., &amp; Hancock, J. (2011)</a:t>
            </a:r>
          </a:p>
          <a:p>
            <a:pPr algn="ctr">
              <a:spcBef>
                <a:spcPts val="2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'Finding deceptive opinion spam by any stretch of the imagination.' Proceedings of ACL '11. (Standard benchmark for linguistic deception).</a:t>
            </a:r>
          </a:p>
          <a:p>
            <a:pPr algn="ctr">
              <a:spcBef>
                <a:spcPts val="800"/>
              </a:spcBef>
              <a:defRPr sz="1400" b="1">
                <a:solidFill>
                  <a:srgbClr val="002060"/>
                </a:solidFill>
                <a:latin typeface="Franklin Gothic Demi"/>
              </a:defRPr>
            </a:pPr>
            <a:r>
              <a:t>[3]  Salminen, J., et al. (2022)</a:t>
            </a:r>
          </a:p>
          <a:p>
            <a:pPr algn="ctr">
              <a:spcBef>
                <a:spcPts val="2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'Creating and detecting fake reviews in online platforms.' Decision Support Systems. (Study on modern AI-generated fake reviews).</a:t>
            </a:r>
          </a:p>
          <a:p>
            <a:pPr algn="ctr">
              <a:spcBef>
                <a:spcPts val="800"/>
              </a:spcBef>
              <a:defRPr sz="1400" b="1">
                <a:solidFill>
                  <a:srgbClr val="002060"/>
                </a:solidFill>
                <a:latin typeface="Franklin Gothic Demi"/>
              </a:defRPr>
            </a:pPr>
            <a:r>
              <a:t>[4]  Scikit-Learn Documentation (2024)</a:t>
            </a:r>
          </a:p>
          <a:p>
            <a:pPr algn="ctr">
              <a:spcBef>
                <a:spcPts val="2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Open-source Machine Learning in Python (TfidfVectorizer and LogisticRegression implementations).</a:t>
            </a:r>
          </a:p>
          <a:p>
            <a:pPr algn="ctr">
              <a:spcBef>
                <a:spcPts val="800"/>
              </a:spcBef>
              <a:defRPr sz="1400" b="1">
                <a:solidFill>
                  <a:srgbClr val="002060"/>
                </a:solidFill>
                <a:latin typeface="Franklin Gothic Demi"/>
              </a:defRPr>
            </a:pPr>
            <a:r>
              <a:t>[5]  Kaggle Dataset</a:t>
            </a:r>
          </a:p>
          <a:p>
            <a:pPr algn="ctr">
              <a:spcBef>
                <a:spcPts val="200"/>
              </a:spcBef>
              <a:defRPr sz="1250">
                <a:solidFill>
                  <a:srgbClr val="18202F"/>
                </a:solidFill>
                <a:latin typeface="Franklin Gothic Book"/>
              </a:defRPr>
            </a:pPr>
            <a:r>
              <a:t>Fake Reviews Dataset: 40,432 labeled computer-generated and original customer reviews.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14400" y="3108960"/>
            <a:ext cx="5303520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3246120"/>
            <a:ext cx="484632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5A6978"/>
                </a:solidFill>
                <a:latin typeface="Franklin Gothic Demi"/>
              </a:defRPr>
            </a:pPr>
            <a:r>
              <a:t>PROJECT TEAM (CSE / BCA):</a:t>
            </a:r>
          </a:p>
          <a:p>
            <a:pPr>
              <a:spcBef>
                <a:spcPts val="300"/>
              </a:spcBef>
              <a:defRPr sz="1500" b="1">
                <a:solidFill>
                  <a:srgbClr val="002060"/>
                </a:solidFill>
                <a:latin typeface="Franklin Gothic Demi"/>
              </a:defRPr>
            </a:pPr>
            <a:r>
              <a:t>• Muskan Jain  [BCA/25014/14]</a:t>
            </a:r>
          </a:p>
          <a:p>
            <a:pPr>
              <a:spcBef>
                <a:spcPts val="300"/>
              </a:spcBef>
              <a:defRPr sz="1500" b="1">
                <a:solidFill>
                  <a:srgbClr val="002060"/>
                </a:solidFill>
                <a:latin typeface="Franklin Gothic Demi"/>
              </a:defRPr>
            </a:pPr>
            <a:r>
              <a:t>• Disha Kodasia  [BCA/25006/24]</a:t>
            </a:r>
          </a:p>
          <a:p>
            <a:pPr>
              <a:spcBef>
                <a:spcPts val="800"/>
              </a:spcBef>
              <a:defRPr sz="1300">
                <a:solidFill>
                  <a:srgbClr val="5A6978"/>
                </a:solidFill>
                <a:latin typeface="Franklin Gothic Book"/>
              </a:defRPr>
            </a:pPr>
            <a:r>
              <a:t>Under the Supervision of:</a:t>
            </a:r>
          </a:p>
          <a:p>
            <a:pPr>
              <a:spcBef>
                <a:spcPts val="200"/>
              </a:spcBef>
              <a:defRPr sz="1600" b="1">
                <a:solidFill>
                  <a:srgbClr val="C00000"/>
                </a:solidFill>
                <a:latin typeface="Franklin Gothic Demi"/>
              </a:defRPr>
            </a:pPr>
            <a:r>
              <a:t>Mr. Santosh Kumar Sharma</a:t>
            </a:r>
          </a:p>
          <a:p>
            <a:pPr>
              <a:defRPr sz="1300">
                <a:solidFill>
                  <a:srgbClr val="18202F"/>
                </a:solidFill>
                <a:latin typeface="Franklin Gothic Book"/>
              </a:defRPr>
            </a:pPr>
            <a:r>
              <a:t>Assistant Professor, Dept. of CSE, BIT Mesra, Jaipur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3108960"/>
            <a:ext cx="4846320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3246120"/>
            <a:ext cx="438912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6A34A"/>
                </a:solidFill>
                <a:latin typeface="Franklin Gothic Demi"/>
              </a:defRPr>
            </a:pPr>
            <a:r>
              <a:t>PROJECT LINKS &amp; RESOURCES</a:t>
            </a:r>
          </a:p>
          <a:p>
            <a:pPr>
              <a:spcBef>
                <a:spcPts val="800"/>
              </a:spcBef>
              <a:defRPr sz="1300" b="1">
                <a:solidFill>
                  <a:srgbClr val="002060"/>
                </a:solidFill>
                <a:latin typeface="Franklin Gothic Demi"/>
              </a:defRPr>
            </a:pPr>
            <a:r>
              <a:t>• Live Web Application:</a:t>
            </a:r>
          </a:p>
          <a:p>
            <a:pPr>
              <a:spcBef>
                <a:spcPts val="100"/>
              </a:spcBef>
              <a:defRPr sz="1150">
                <a:solidFill>
                  <a:srgbClr val="5A6978"/>
                </a:solidFill>
                <a:latin typeface="Franklin Gothic Book"/>
              </a:defRPr>
            </a:pPr>
            <a:r>
              <a:t>   https://trust-check-rouge.vercel.app/</a:t>
            </a:r>
          </a:p>
          <a:p>
            <a:pPr>
              <a:spcBef>
                <a:spcPts val="800"/>
              </a:spcBef>
              <a:defRPr sz="1300" b="1">
                <a:solidFill>
                  <a:srgbClr val="002060"/>
                </a:solidFill>
                <a:latin typeface="Franklin Gothic Demi"/>
              </a:defRPr>
            </a:pPr>
            <a:r>
              <a:t>• Real-Time Dashboard:</a:t>
            </a:r>
          </a:p>
          <a:p>
            <a:pPr>
              <a:spcBef>
                <a:spcPts val="100"/>
              </a:spcBef>
              <a:defRPr sz="1150">
                <a:solidFill>
                  <a:srgbClr val="5A6978"/>
                </a:solidFill>
                <a:latin typeface="Franklin Gothic Book"/>
              </a:defRPr>
            </a:pPr>
            <a:r>
              <a:t>   https://trust-check-rouge.vercel.app/dashboard</a:t>
            </a:r>
          </a:p>
          <a:p>
            <a:pPr>
              <a:spcBef>
                <a:spcPts val="800"/>
              </a:spcBef>
              <a:defRPr sz="1300" b="1">
                <a:solidFill>
                  <a:srgbClr val="002060"/>
                </a:solidFill>
                <a:latin typeface="Franklin Gothic Demi"/>
              </a:defRPr>
            </a:pPr>
            <a:r>
              <a:t>• Source Code Repository:</a:t>
            </a:r>
          </a:p>
          <a:p>
            <a:pPr>
              <a:spcBef>
                <a:spcPts val="100"/>
              </a:spcBef>
              <a:defRPr sz="1150">
                <a:solidFill>
                  <a:srgbClr val="5A6978"/>
                </a:solidFill>
                <a:latin typeface="Franklin Gothic Book"/>
              </a:defRPr>
            </a:pPr>
            <a:r>
              <a:t>   https://github.com/muskanpapdiwal/TrustCheck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