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011680"/>
            <a:ext cx="8412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1E293B"/>
                </a:solidFill>
                <a:latin typeface="Franklin Gothic Demi"/>
              </a:defRPr>
            </a:pPr>
            <a:r>
              <a:t>TrustCheck</a:t>
            </a:r>
          </a:p>
          <a:p>
            <a:pPr>
              <a:spcBef>
                <a:spcPts val="800"/>
              </a:spcBef>
              <a:defRPr sz="2200" b="1">
                <a:solidFill>
                  <a:srgbClr val="5D7D40"/>
                </a:solidFill>
                <a:latin typeface="Franklin Gothic Demi"/>
              </a:defRPr>
            </a:pPr>
            <a:r>
              <a:t>Machine Learning-Based Fake Review Detection &amp; Trust Analytics Dashboard</a:t>
            </a:r>
          </a:p>
          <a:p>
            <a:pPr>
              <a:spcBef>
                <a:spcPts val="600"/>
              </a:spcBef>
              <a:defRPr sz="1400">
                <a:solidFill>
                  <a:srgbClr val="64748B"/>
                </a:solidFill>
                <a:latin typeface="Franklin Gothic Book"/>
              </a:defRPr>
            </a:pPr>
            <a:r>
              <a:t>BCA Final Year Project | Natural Language Processing &amp; Applied Web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4297680"/>
            <a:ext cx="56692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Franklin Gothic Demi"/>
              </a:defRPr>
            </a:pPr>
            <a:r>
              <a:t>Submitted By: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Book"/>
              </a:defRPr>
            </a:pPr>
            <a:r>
              <a:t>• Muskan Papdiwal  [Roll No: [BCA/XXXXX/XX]]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Book"/>
              </a:defRPr>
            </a:pPr>
            <a:r>
              <a:t>• Student 2  [Roll No: [BCA/XXXXX/XX]]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Book"/>
              </a:defRPr>
            </a:pPr>
            <a:r>
              <a:t>• Student 3  [Roll No: [BCA/XXXXX/XX]]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Franklin Gothic Book"/>
              </a:defRPr>
            </a:pPr>
            <a:r>
              <a:t>Under the Supervision of:</a:t>
            </a:r>
          </a:p>
          <a:p>
            <a:pPr>
              <a:spcBef>
                <a:spcPts val="200"/>
              </a:spcBef>
              <a:defRPr sz="1600" b="1">
                <a:solidFill>
                  <a:srgbClr val="C00000"/>
                </a:solidFill>
                <a:latin typeface="Franklin Gothic Demi"/>
              </a:defRPr>
            </a:pPr>
            <a:r>
              <a:t>Dr. / Mr. [Name of Guide]</a:t>
            </a:r>
          </a:p>
          <a:p>
            <a:pPr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Assistant Professor, Dept.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512064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475488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01. Introduction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Franklin Gothic Book"/>
              </a:defRPr>
            </a:pPr>
            <a:r>
              <a:t>E-Commerce growth, consumer reliance, and the deceptive review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62072"/>
            <a:ext cx="512064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475488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02. Problem Statement &amp; Objectives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Franklin Gothic Book"/>
              </a:defRPr>
            </a:pPr>
            <a:r>
              <a:t>Rating inflation, manipulative spam patterns, and core system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78224"/>
            <a:ext cx="512064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87952"/>
            <a:ext cx="475488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03. Dataset Description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Franklin Gothic Book"/>
              </a:defRPr>
            </a:pPr>
            <a:r>
              <a:t>Kaggle Fake Reviews Corpus (40,432 reviews), OR vs. CG classes, preprocessing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94376"/>
            <a:ext cx="512064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04104"/>
            <a:ext cx="475488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04. Design and Methodology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Franklin Gothic Book"/>
              </a:defRPr>
            </a:pPr>
            <a:r>
              <a:t>TF-IDF feature extraction, model comparison (MNB vs. LR), &amp; Trust Score formula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12064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55648"/>
            <a:ext cx="475488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05. Research Contributions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Franklin Gothic Book"/>
              </a:defRPr>
            </a:pPr>
            <a:r>
              <a:t>Dual rating contrast, 4-vector forensics, live deployment, &amp; explainable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62072"/>
            <a:ext cx="512064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71800"/>
            <a:ext cx="475488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06. Conclusions &amp; Future Scope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Franklin Gothic Book"/>
              </a:defRPr>
            </a:pPr>
            <a:r>
              <a:t>Project summary, key achievements, and future research directions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78224"/>
            <a:ext cx="512064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87952"/>
            <a:ext cx="475488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2060"/>
                </a:solidFill>
                <a:latin typeface="Franklin Gothic Demi"/>
              </a:defRPr>
            </a:pPr>
            <a:r>
              <a:t>07. References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Franklin Gothic Book"/>
              </a:defRPr>
            </a:pPr>
            <a:r>
              <a:t>Foundational academic literature and NLP benchmark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3474720" cy="4297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Franklin Gothic Demi"/>
              </a:defRPr>
            </a:pPr>
            <a:r>
              <a:t>MARKET REALITY</a:t>
            </a:r>
          </a:p>
          <a:p>
            <a:pPr>
              <a:spcBef>
                <a:spcPts val="300"/>
              </a:spcBef>
              <a:defRPr sz="1800" b="1">
                <a:solidFill>
                  <a:srgbClr val="1E293B"/>
                </a:solidFill>
                <a:latin typeface="Franklin Gothic Demi"/>
              </a:defRPr>
            </a:pPr>
            <a:r>
              <a:t>Consumer Reliance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93% of online shoppers read customer reviews prior to completing a purchase.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Product search placement on major marketplaces (Amazon, Flipkart) is directly driven by star rating velocity and volume.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Reviews serve as digital word-of-mouth and the primary trust anchor for e-commerce transactions.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645920"/>
            <a:ext cx="3474720" cy="4297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87452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Franklin Gothic Demi"/>
              </a:defRPr>
            </a:pPr>
            <a:r>
              <a:t>THE EPIDEMIC</a:t>
            </a:r>
          </a:p>
          <a:p>
            <a:pPr>
              <a:spcBef>
                <a:spcPts val="300"/>
              </a:spcBef>
              <a:defRPr sz="1800" b="1">
                <a:solidFill>
                  <a:srgbClr val="1E293B"/>
                </a:solidFill>
                <a:latin typeface="Franklin Gothic Demi"/>
              </a:defRPr>
            </a:pPr>
            <a:r>
              <a:t>Deceptive Opinion Spam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Organized review syndicates and automated generative bots create thousands of synthetic 5-star reviews.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Deceptive reviews distort authentic ratings, misleading buyers into purchasing substandard or hazardous items.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Manual human inspection fails because computer-generated text closely mimics colloquial consumer praise.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645920"/>
            <a:ext cx="3474720" cy="4297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2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2060"/>
                </a:solidFill>
                <a:latin typeface="Franklin Gothic Demi"/>
              </a:defRPr>
            </a:pPr>
            <a:r>
              <a:t>THE SOLUTION</a:t>
            </a:r>
          </a:p>
          <a:p>
            <a:pPr>
              <a:spcBef>
                <a:spcPts val="300"/>
              </a:spcBef>
              <a:defRPr sz="1800" b="1">
                <a:solidFill>
                  <a:srgbClr val="1E293B"/>
                </a:solidFill>
                <a:latin typeface="Franklin Gothic Demi"/>
              </a:defRPr>
            </a:pPr>
            <a:r>
              <a:t>TrustCheck Platform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An automated, lightweight NLP audit framework classifying reviews as Genuine or Fake.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Calculates an Explainable Trust Score (0–100) combining fake review density with model certainty.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Delivers dual-rating transparency: contrasts platform reported rating against authentic genuine-only rating.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554480"/>
            <a:ext cx="1069848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0000"/>
                </a:solidFill>
                <a:latin typeface="Franklin Gothic Demi"/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1350">
                <a:solidFill>
                  <a:srgbClr val="1E293B"/>
                </a:solidFill>
                <a:latin typeface="Franklin Gothic Book"/>
              </a:defRPr>
            </a:pPr>
            <a:r>
              <a:t>E-commerce marketplaces compute naive arithmetic averages of all posted reviews, enabling low-cost bot networks and syndicated promoters to artificially inflate product reputations. Existing consumer verification methods lack explainability, real-time accessibility, and mathematical reliability.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52120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136392"/>
            <a:ext cx="4754880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Franklin Gothic Demi"/>
              </a:defRPr>
            </a:pPr>
            <a:r>
              <a:t>OBJECTIVE 1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Franklin Gothic Demi"/>
              </a:defRPr>
            </a:pPr>
            <a:r>
              <a:t>NLP Classification Pipeline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Train, validate, and serialize machine learning models to categorize customer reviews into Genuine (OR) vs. Fake (CG) with real-time probability calibration.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71800"/>
            <a:ext cx="52120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136392"/>
            <a:ext cx="4754880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Franklin Gothic Demi"/>
              </a:defRPr>
            </a:pPr>
            <a:r>
              <a:t>OBJECTIVE 2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Franklin Gothic Demi"/>
              </a:defRPr>
            </a:pPr>
            <a:r>
              <a:t>Explainable Trust Score Metric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Formulate a dynamic 0–100 mathematical Trust Index penalizing products proportionally to fake review frequency and model prediction certainty.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2120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919472"/>
            <a:ext cx="4754880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Franklin Gothic Demi"/>
              </a:defRPr>
            </a:pPr>
            <a:r>
              <a:t>OBJECTIVE 3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Franklin Gothic Demi"/>
              </a:defRPr>
            </a:pPr>
            <a:r>
              <a:t>Multi-Modal Review Ingestion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Support direct Amazon/Flipkart URL scraping with fallback resilience, bulk CSV uploads (up to 5MB), and instant freeform text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754880"/>
            <a:ext cx="52120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919472"/>
            <a:ext cx="4754880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Franklin Gothic Demi"/>
              </a:defRPr>
            </a:pPr>
            <a:r>
              <a:t>OBJECTIVE 4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Franklin Gothic Demi"/>
              </a:defRPr>
            </a:pPr>
            <a:r>
              <a:t>Forensic Analytical Dashboard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Design an intuitive, nature-toned web interface displaying rating distortions, red-flag keyword frequencies, and 4-vector risk assessments.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Franklin Gothic Demi"/>
              </a:defRPr>
            </a:pPr>
            <a:r>
              <a:t>CORPUS SPECIFICATIONS</a:t>
            </a:r>
          </a:p>
          <a:p>
            <a:pPr>
              <a:spcBef>
                <a:spcPts val="300"/>
              </a:spcBef>
              <a:defRPr sz="2000" b="1">
                <a:solidFill>
                  <a:srgbClr val="1E293B"/>
                </a:solidFill>
                <a:latin typeface="Franklin Gothic Demi"/>
              </a:defRPr>
            </a:pPr>
            <a:r>
              <a:t>Kaggle Fake Reviews Dataset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Total Instances: 40,432 labeled consumer reviews across multiple categories.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Balanced Classes: Exactly 50% Genuine (OR) and 50% Fake (CG) instances, eliminating class imbalance bias.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Class 'OR' (Original Review): Genuine customer reviews harvested from authentic product purchases containing nuanced pros/cons.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Class 'CG' (Computer-Generated): Synthetically generated fake reviews created by automated NLP algorithms and text templates.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Domain Diversity: Spans 10 product domains (Electronics, Home &amp; Kitchen, Sports, Books, Clothing, Beauty, etc.).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Franklin Gothic Demi"/>
              </a:defRPr>
            </a:pPr>
            <a:r>
              <a:t>FEATURE ENGINEERING &amp; PREPROCESSING</a:t>
            </a:r>
          </a:p>
          <a:p>
            <a:pPr>
              <a:spcBef>
                <a:spcPts val="300"/>
              </a:spcBef>
              <a:defRPr sz="2000" b="1">
                <a:solidFill>
                  <a:srgbClr val="1E293B"/>
                </a:solidFill>
                <a:latin typeface="Franklin Gothic Demi"/>
              </a:defRPr>
            </a:pPr>
            <a:r>
              <a:t>Text Vectorization &amp; Pipeline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Normalization: Case folding to lowercase, regex alphanumeric cleaning, stripping extraneous punctuation and whitespace.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Stop Words Elimination: Filtered using standard English dictionary while retaining polarity modifiers.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TF-IDF Vectorization: Evaluates term frequency-inverse document frequency capturing unigrams and bigrams (ngram_range=(1, 2)).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Vocabulary Pruning: Constrained to max_features=5,000 and min_df=2 to prevent overfitting and ensure fast sub-second inference.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Franklin Gothic Book"/>
              </a:defRPr>
            </a:pPr>
            <a:r>
              <a:t>• Data Splitting: 80% Training (32,345 reviews) and 20% Held-Out Testing (8,087 reviews) using stratified sampling (random_state=42).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Franklin Gothic Demi"/>
              </a:defRPr>
            </a:pPr>
            <a:r>
              <a:t>METHODS &amp; ALGORITHMS</a:t>
            </a:r>
          </a:p>
          <a:p>
            <a:pPr>
              <a:spcBef>
                <a:spcPts val="200"/>
              </a:spcBef>
              <a:defRPr sz="1800" b="1">
                <a:solidFill>
                  <a:srgbClr val="1E293B"/>
                </a:solidFill>
                <a:latin typeface="Franklin Gothic Demi"/>
              </a:defRPr>
            </a:pPr>
            <a:r>
              <a:t>Model Benchmark &amp; Trust Formula</a:t>
            </a:r>
          </a:p>
          <a:p>
            <a:pPr>
              <a:spcBef>
                <a:spcPts val="600"/>
              </a:spcBef>
              <a:defRPr sz="1250" b="0">
                <a:solidFill>
                  <a:srgbClr val="1E293B"/>
                </a:solidFill>
                <a:latin typeface="Franklin Gothic Book"/>
              </a:defRPr>
            </a:pPr>
            <a:r>
              <a:t>• Model Selection: Trained Multinomial Naive Bayes (MNB) and Logistic Regression (LR) on identical TF-IDF features.</a:t>
            </a:r>
          </a:p>
          <a:p>
            <a:pPr>
              <a:spcBef>
                <a:spcPts val="600"/>
              </a:spcBef>
              <a:defRPr sz="1250" b="0">
                <a:solidFill>
                  <a:srgbClr val="1E293B"/>
                </a:solidFill>
                <a:latin typeface="Franklin Gothic Book"/>
              </a:defRPr>
            </a:pPr>
            <a:r>
              <a:t>• Performance Champion: Logistic Regression achieved superior test accuracy (89.4%) with high precision (88.7%) and recall (90.2%).</a:t>
            </a:r>
          </a:p>
          <a:p>
            <a:pPr>
              <a:spcBef>
                <a:spcPts val="600"/>
              </a:spcBef>
              <a:defRPr sz="1250" b="0">
                <a:solidFill>
                  <a:srgbClr val="1E293B"/>
                </a:solidFill>
                <a:latin typeface="Franklin Gothic Book"/>
              </a:defRPr>
            </a:pPr>
            <a:r>
              <a:t>• Calibrated Confidence: Uses predict_proba() to extract granular certainty percentages (0–100%) per prediction.</a:t>
            </a:r>
          </a:p>
          <a:p>
            <a:pPr>
              <a:spcBef>
                <a:spcPts val="600"/>
              </a:spcBef>
              <a:defRPr sz="1250" b="0">
                <a:solidFill>
                  <a:srgbClr val="1E293B"/>
                </a:solidFill>
                <a:latin typeface="Franklin Gothic Book"/>
              </a:defRPr>
            </a:pPr>
            <a:r>
              <a:t>• Dynamic Trust Score Metric:</a:t>
            </a:r>
          </a:p>
          <a:p>
            <a:pPr>
              <a:spcBef>
                <a:spcPts val="600"/>
              </a:spcBef>
              <a:defRPr sz="1250" b="1">
                <a:solidFill>
                  <a:srgbClr val="16A34A"/>
                </a:solidFill>
                <a:latin typeface="Franklin Gothic Demi"/>
              </a:defRPr>
            </a:pPr>
            <a:r>
              <a:t>       TRUST_SCORE = 100 - (pct_fake * avg_fake_conf / 100)</a:t>
            </a:r>
          </a:p>
          <a:p>
            <a:pPr>
              <a:spcBef>
                <a:spcPts val="600"/>
              </a:spcBef>
              <a:defRPr sz="1250" b="0">
                <a:solidFill>
                  <a:srgbClr val="1E293B"/>
                </a:solidFill>
                <a:latin typeface="Franklin Gothic Book"/>
              </a:defRPr>
            </a:pPr>
            <a:r>
              <a:t>• Penalizes products dual-weighted by fake review volume AND model certainty. Score is strictly clamped to [0, 100].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7830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Franklin Gothic Demi"/>
              </a:defRPr>
            </a:pPr>
            <a:r>
              <a:t>SYSTEM ARCHITECTURE</a:t>
            </a:r>
          </a:p>
          <a:p>
            <a:pPr>
              <a:spcBef>
                <a:spcPts val="200"/>
              </a:spcBef>
              <a:defRPr sz="1800" b="1">
                <a:solidFill>
                  <a:srgbClr val="1E293B"/>
                </a:solidFill>
                <a:latin typeface="Franklin Gothic Demi"/>
              </a:defRPr>
            </a:pPr>
            <a:r>
              <a:t>4-Tier End-to-End Processing Pipeline</a:t>
            </a:r>
          </a:p>
          <a:p>
            <a:pPr>
              <a:spcBef>
                <a:spcPts val="700"/>
              </a:spcBef>
              <a:defRPr sz="1300" b="1">
                <a:solidFill>
                  <a:srgbClr val="002060"/>
                </a:solidFill>
                <a:latin typeface="Franklin Gothic Demi"/>
              </a:defRPr>
            </a:pPr>
            <a:r>
              <a:t>■ Tier 1: Multi-Channel Ingestion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Franklin Gothic Book"/>
              </a:defRPr>
            </a:pPr>
            <a:r>
              <a:t>   URL Scraper (BeautifulSoup + Selenium fallback) | CSV Batch Parser | Direct Textarea</a:t>
            </a:r>
          </a:p>
          <a:p>
            <a:pPr>
              <a:spcBef>
                <a:spcPts val="700"/>
              </a:spcBef>
              <a:defRPr sz="1300" b="1">
                <a:solidFill>
                  <a:srgbClr val="002060"/>
                </a:solidFill>
                <a:latin typeface="Franklin Gothic Demi"/>
              </a:defRPr>
            </a:pPr>
            <a:r>
              <a:t>■ Tier 2: NLP Preprocessing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Franklin Gothic Book"/>
              </a:defRPr>
            </a:pPr>
            <a:r>
              <a:t>   Regex Cleaner -&gt; Stop-word Stripping -&gt; TF-IDF (1,2) Vectorizer (5,000 vocab)</a:t>
            </a:r>
          </a:p>
          <a:p>
            <a:pPr>
              <a:spcBef>
                <a:spcPts val="700"/>
              </a:spcBef>
              <a:defRPr sz="1300" b="1">
                <a:solidFill>
                  <a:srgbClr val="002060"/>
                </a:solidFill>
                <a:latin typeface="Franklin Gothic Demi"/>
              </a:defRPr>
            </a:pPr>
            <a:r>
              <a:t>■ Tier 3: Inference &amp; Analytics Engine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Franklin Gothic Book"/>
              </a:defRPr>
            </a:pPr>
            <a:r>
              <a:t>   Trained Scikit-Learn Classifier (model.pkl) -&gt; predict_proba() -&gt; Statistical Aggregator (analyzer.py)</a:t>
            </a:r>
          </a:p>
          <a:p>
            <a:pPr>
              <a:spcBef>
                <a:spcPts val="700"/>
              </a:spcBef>
              <a:defRPr sz="1300" b="1">
                <a:solidFill>
                  <a:srgbClr val="002060"/>
                </a:solidFill>
                <a:latin typeface="Franklin Gothic Demi"/>
              </a:defRPr>
            </a:pPr>
            <a:r>
              <a:t>■ Tier 4: Interactive Dashboard Presentation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Franklin Gothic Book"/>
              </a:defRPr>
            </a:pPr>
            <a:r>
              <a:t>   Flask Application -&gt; Nature-Toned SaaS UI -&gt; Semicircular SVG Trust Gauge -&gt; Chart.js -&gt; Forensic Drawer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Franklin Gothic Demi"/>
              </a:defRPr>
            </a:pPr>
            <a:r>
              <a:t>DUAL-RATING CONTRAST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Franklin Gothic Demi"/>
              </a:defRPr>
            </a:pPr>
            <a:r>
              <a:t>Exposing Inflation Gap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Displays Platform Reported Rating directly adjacent to Genuine-Only Adjusted Rating.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Immediately isolates rating inflation driven by promotional 5-star fake clusters.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Empowers buyers to gauge true product satisfaction before purchasing.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78308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2060"/>
                </a:solidFill>
                <a:latin typeface="Franklin Gothic Demi"/>
              </a:defRPr>
            </a:pPr>
            <a:r>
              <a:t>EXPLAINABLE AI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Franklin Gothic Demi"/>
              </a:defRPr>
            </a:pPr>
            <a:r>
              <a:t>4-Vector Forensic Drawer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Deconstructs flagged reviews into 4 explainable risk vectors: Language, Behavior, Similarity, and Sentiment.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Generates dynamic human-readable explanations (e.g. 'Repetitive superlatives, template overlap').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Replaces opaque black-box verdicts with transparent audit reasoning.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06908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Franklin Gothic Demi"/>
              </a:defRPr>
            </a:pPr>
            <a:r>
              <a:t>RESILIENT SCRAPING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Franklin Gothic Demi"/>
              </a:defRPr>
            </a:pPr>
            <a:r>
              <a:t>Two-Tier Fallback Harvester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Primary parsing via high-speed requests + BeautifulSoup with pagination support.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Secondary fallback to headless undetected-chromedriver bypassing client JS rendering.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Graceful degradation alerting user to paste reviews directly if anti-bot triggers.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057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06908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00000"/>
                </a:solidFill>
                <a:latin typeface="Franklin Gothic Demi"/>
              </a:defRPr>
            </a:pPr>
            <a:r>
              <a:t>PRODUCTION READY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Franklin Gothic Demi"/>
              </a:defRPr>
            </a:pPr>
            <a:r>
              <a:t>Privacy &amp; Serverless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Deployed live on Vercel with responsive desktop and mobile navigation.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Zero database footprint: review data is processed ephemerally in local RAM.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• Sub-50ms inference latency for fast consumer interactions.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Franklin Gothic Demi"/>
              </a:defRPr>
            </a:pPr>
            <a:r>
              <a:t>PROJECT SUMMARY</a:t>
            </a:r>
          </a:p>
          <a:p>
            <a:pPr>
              <a:spcBef>
                <a:spcPts val="300"/>
              </a:spcBef>
              <a:defRPr sz="2000" b="1">
                <a:solidFill>
                  <a:srgbClr val="1E293B"/>
                </a:solidFill>
                <a:latin typeface="Franklin Gothic Demi"/>
              </a:defRPr>
            </a:pPr>
            <a:r>
              <a:t>Conclusions &amp; Key Findings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• Successful NLP Classification: Demonstrated that n-gram TF-IDF paired with regularized Logistic Regression achieves 89.4% accuracy in detecting synthetic/bot review spam.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• Actionable Trust Metric: The mathematical Trust Score successfully penalizes fraudulent review clusters while safeguarding products with minor unconfirmed anomalies.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• Rating Discrepancy Verification: Real-world audits reveal average rating inflation of 0.4 to 0.9 stars on heavily manipulated storefront products.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• Lightweight Deployment: The offline training / online inference split enables instantaneous serverless deployment with low computational overhead.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• Working Live System: Delivered an accessible, responsive web application serving consumers in real-time.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2060"/>
                </a:solidFill>
                <a:latin typeface="Franklin Gothic Demi"/>
              </a:defRPr>
            </a:pPr>
            <a:r>
              <a:t>LOOKING AHEAD</a:t>
            </a:r>
          </a:p>
          <a:p>
            <a:pPr>
              <a:spcBef>
                <a:spcPts val="300"/>
              </a:spcBef>
              <a:defRPr sz="2000" b="1">
                <a:solidFill>
                  <a:srgbClr val="1E293B"/>
                </a:solidFill>
                <a:latin typeface="Franklin Gothic Demi"/>
              </a:defRPr>
            </a:pPr>
            <a:r>
              <a:t>Future Research &amp; Enhancements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• Deep Learning Integration: Fine-tuning compact Transformer architectures (DistilBERT / RoBERTa) to capture deep semantic nuances, sarcasm, and disguised promotional rhetoric.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• Temporal Velocity Modeling: Incorporating reviewer timestamp clustering algorithms to automatically flag coordinated burst attacks occurring over short timeframes.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• Reviewer Profile Graphs: Evaluating graph-based behavioral networks (reviewer history, cross-product review symmetry, unverified purchase tags).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• Cross-Browser Extension: Compiling TrustCheck as a Manifest V3 Chrome/Edge extension providing zero-click on-page badges directly inside Amazon and Flipkart.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Franklin Gothic Book"/>
              </a:defRPr>
            </a:pPr>
            <a:r>
              <a:t>• Multilingual Support: Extending the corpus to support Indic languages (Hindi, Bengali, Tamil) for broader regional e-commerce coverage.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02060"/>
                </a:solidFill>
                <a:latin typeface="Franklin Gothic Demi"/>
              </a:defRPr>
            </a:pPr>
            <a:r>
              <a:t>[1]  Jindal, N., &amp; Liu, B. (2008). 'Opinion spam and analysis.'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     Proceedings of the 2008 International Conference on Web Search and Data Mining (WSDM '08), pp. 219–230. ACM. (Pioneering taxonomy of deceptive reviews).</a:t>
            </a:r>
          </a:p>
          <a:p>
            <a:pPr>
              <a:spcBef>
                <a:spcPts val="800"/>
              </a:spcBef>
              <a:defRPr sz="1350" b="1">
                <a:solidFill>
                  <a:srgbClr val="002060"/>
                </a:solidFill>
                <a:latin typeface="Franklin Gothic Demi"/>
              </a:defRPr>
            </a:pPr>
            <a:r>
              <a:t>[2]  Ott, M., Choi, Y., Cardie, C., &amp; Hancock, J. T. (2011). 'Finding deceptive opinion spam by any stretch of the imagination.'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     Proceedings of the 49th Annual Meeting of the Association for Computational Linguistics (ACL '11), pp. 309–319. (Foundational dataset and linguistic deception markers).</a:t>
            </a:r>
          </a:p>
          <a:p>
            <a:pPr>
              <a:spcBef>
                <a:spcPts val="800"/>
              </a:spcBef>
              <a:defRPr sz="1350" b="1">
                <a:solidFill>
                  <a:srgbClr val="002060"/>
                </a:solidFill>
                <a:latin typeface="Franklin Gothic Demi"/>
              </a:defRPr>
            </a:pPr>
            <a:r>
              <a:t>[3]  Salminen, J., Kandpal, C., Kamel, A. M., Jung, S. G., &amp; Jansen, B. J. (2022). 'Creating and detecting fake reviews in online platforms: Machine learning and user perspectives.'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     Decision Support Systems, Vol. 157, 113771. (Modern synthetic bot review generation and detection benchmarks).</a:t>
            </a:r>
          </a:p>
          <a:p>
            <a:pPr>
              <a:spcBef>
                <a:spcPts val="800"/>
              </a:spcBef>
              <a:defRPr sz="1350" b="1">
                <a:solidFill>
                  <a:srgbClr val="002060"/>
                </a:solidFill>
                <a:latin typeface="Franklin Gothic Demi"/>
              </a:defRPr>
            </a:pPr>
            <a:r>
              <a:t>[4]  Pedregosa, F., Varoquaux, G., Gramfort, A., Michel, V., Thirion, B., et al. (2011). 'Scikit-learn: Machine Learning in Python.'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     Journal of Machine Learning Research (JMLR), 12, pp. 2825–2830. (Core ML framework utilized for TF-IDF, MNB, and LR).</a:t>
            </a:r>
          </a:p>
          <a:p>
            <a:pPr>
              <a:spcBef>
                <a:spcPts val="800"/>
              </a:spcBef>
              <a:defRPr sz="1350" b="1">
                <a:solidFill>
                  <a:srgbClr val="002060"/>
                </a:solidFill>
                <a:latin typeface="Franklin Gothic Demi"/>
              </a:defRPr>
            </a:pPr>
            <a:r>
              <a:t>[5]  Manning, C. D., Raghavan, P., &amp; Schütze, H. (2008). 'Introduction to Information Retrieval.'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     Cambridge University Press. (Theoretical foundations of n-gram TF-IDF weighting and vector space modeling).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3108960"/>
            <a:ext cx="5303520" cy="31089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3246120"/>
            <a:ext cx="48463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Franklin Gothic Demi"/>
              </a:defRPr>
            </a:pPr>
            <a:r>
              <a:t>PROJECT TEAM (CSE / BCA):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• Muskan Papdiwal  [Roll No: [BCA/XXXXX/XX]]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• Student 2  [Roll No: [BCA/XXXXX/XX]]</a:t>
            </a:r>
          </a:p>
          <a:p>
            <a:pPr>
              <a:spcBef>
                <a:spcPts val="200"/>
              </a:spcBef>
              <a:defRPr sz="1400" b="1">
                <a:solidFill>
                  <a:srgbClr val="002060"/>
                </a:solidFill>
                <a:latin typeface="Franklin Gothic Demi"/>
              </a:defRPr>
            </a:pPr>
            <a:r>
              <a:t>• Student 3  [Roll No: [BCA/XXXXX/XX]]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Franklin Gothic Book"/>
              </a:defRPr>
            </a:pPr>
            <a:r>
              <a:t>Under the Supervision of:</a:t>
            </a:r>
          </a:p>
          <a:p>
            <a:pPr>
              <a:spcBef>
                <a:spcPts val="200"/>
              </a:spcBef>
              <a:defRPr sz="1600" b="1">
                <a:solidFill>
                  <a:srgbClr val="C00000"/>
                </a:solidFill>
                <a:latin typeface="Franklin Gothic Demi"/>
              </a:defRPr>
            </a:pPr>
            <a:r>
              <a:t>Dr. / Mr. [Name of Guide]</a:t>
            </a:r>
          </a:p>
          <a:p>
            <a:pPr>
              <a:defRPr sz="1200">
                <a:solidFill>
                  <a:srgbClr val="1E293B"/>
                </a:solidFill>
                <a:latin typeface="Franklin Gothic Book"/>
              </a:defRPr>
            </a:pPr>
            <a:r>
              <a:t>Assistant Professor, Dept. of CSE, BIT Mesra, Jaipur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3108960"/>
            <a:ext cx="4846320" cy="31089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3246120"/>
            <a:ext cx="43891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Franklin Gothic Demi"/>
              </a:defRPr>
            </a:pPr>
            <a:r>
              <a:t>QUESTIONS &amp; DISCUSSION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Franklin Gothic Book"/>
              </a:defRPr>
            </a:pPr>
            <a:r>
              <a:t>Thank you for your time &amp; consideration.</a:t>
            </a:r>
          </a:p>
          <a:p>
            <a:pPr>
              <a:spcBef>
                <a:spcPts val="600"/>
              </a:spcBef>
              <a:defRPr sz="1200" b="1">
                <a:solidFill>
                  <a:srgbClr val="002060"/>
                </a:solidFill>
                <a:latin typeface="Franklin Gothic Demi"/>
              </a:defRPr>
            </a:pPr>
            <a:r>
              <a:t>• Live Web App: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Franklin Gothic Book"/>
              </a:defRPr>
            </a:pPr>
            <a:r>
              <a:t>   https://trust-check-rouge.vercel.app/</a:t>
            </a:r>
          </a:p>
          <a:p>
            <a:pPr>
              <a:spcBef>
                <a:spcPts val="600"/>
              </a:spcBef>
              <a:defRPr sz="1200" b="1">
                <a:solidFill>
                  <a:srgbClr val="002060"/>
                </a:solidFill>
                <a:latin typeface="Franklin Gothic Demi"/>
              </a:defRPr>
            </a:pPr>
            <a:r>
              <a:t>• Live Dashboard: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Franklin Gothic Book"/>
              </a:defRPr>
            </a:pPr>
            <a:r>
              <a:t>   https://trust-check-rouge.vercel.app/dashboard</a:t>
            </a:r>
          </a:p>
          <a:p>
            <a:pPr>
              <a:spcBef>
                <a:spcPts val="600"/>
              </a:spcBef>
              <a:defRPr sz="1200" b="1">
                <a:solidFill>
                  <a:srgbClr val="002060"/>
                </a:solidFill>
                <a:latin typeface="Franklin Gothic Demi"/>
              </a:defRPr>
            </a:pPr>
            <a:r>
              <a:t>• GitHub Repository: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  <a:latin typeface="Franklin Gothic Book"/>
              </a:defRPr>
            </a:pPr>
            <a:r>
              <a:t>   https://github.com/muskanpapdiwal/TrustCheck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