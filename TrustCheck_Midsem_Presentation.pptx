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0" y="1920240"/>
            <a:ext cx="84124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600" b="1">
                <a:solidFill>
                  <a:srgbClr val="18202F"/>
                </a:solidFill>
                <a:latin typeface="Franklin Gothic Demi"/>
              </a:defRPr>
            </a:pPr>
            <a:r>
              <a:t>TrustCheck</a:t>
            </a:r>
          </a:p>
          <a:p>
            <a:pPr>
              <a:spcBef>
                <a:spcPts val="600"/>
              </a:spcBef>
              <a:defRPr sz="2400" b="1">
                <a:solidFill>
                  <a:srgbClr val="507337"/>
                </a:solidFill>
                <a:latin typeface="Franklin Gothic Demi"/>
              </a:defRPr>
            </a:pPr>
            <a:r>
              <a:t>Fake Review Detection &amp; Trust Score System</a:t>
            </a:r>
          </a:p>
          <a:p>
            <a:pPr>
              <a:spcBef>
                <a:spcPts val="800"/>
              </a:spcBef>
              <a:defRPr sz="1500">
                <a:solidFill>
                  <a:srgbClr val="5A6978"/>
                </a:solidFill>
                <a:latin typeface="Franklin Gothic Book"/>
              </a:defRPr>
            </a:pPr>
            <a:r>
              <a:t>Mid-Semester Project Presentation | Department of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4206240"/>
            <a:ext cx="57607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5A6978"/>
                </a:solidFill>
                <a:latin typeface="Franklin Gothic Demi"/>
              </a:defRPr>
            </a:pPr>
            <a:r>
              <a:t>Presented By:</a:t>
            </a:r>
          </a:p>
          <a:p>
            <a:pPr>
              <a:spcBef>
                <a:spcPts val="200"/>
              </a:spcBef>
              <a:defRPr sz="1400" b="1">
                <a:solidFill>
                  <a:srgbClr val="002060"/>
                </a:solidFill>
                <a:latin typeface="Franklin Gothic Book"/>
              </a:defRPr>
            </a:pPr>
            <a:r>
              <a:t>• Muskan Papdiwal  [Roll No: [BCA/XXXXX/XX]]</a:t>
            </a:r>
          </a:p>
          <a:p>
            <a:pPr>
              <a:spcBef>
                <a:spcPts val="200"/>
              </a:spcBef>
              <a:defRPr sz="1400" b="1">
                <a:solidFill>
                  <a:srgbClr val="002060"/>
                </a:solidFill>
                <a:latin typeface="Franklin Gothic Book"/>
              </a:defRPr>
            </a:pPr>
            <a:r>
              <a:t>• Team Member 2  [Roll No: [BCA/XXXXX/XX]]</a:t>
            </a:r>
          </a:p>
          <a:p>
            <a:pPr>
              <a:spcBef>
                <a:spcPts val="200"/>
              </a:spcBef>
              <a:defRPr sz="1400" b="1">
                <a:solidFill>
                  <a:srgbClr val="002060"/>
                </a:solidFill>
                <a:latin typeface="Franklin Gothic Book"/>
              </a:defRPr>
            </a:pPr>
            <a:r>
              <a:t>• Team Member 3  [Roll No: [BCA/XXXXX/XX]]</a:t>
            </a:r>
          </a:p>
          <a:p>
            <a:pPr>
              <a:spcBef>
                <a:spcPts val="600"/>
              </a:spcBef>
              <a:defRPr sz="1300">
                <a:solidFill>
                  <a:srgbClr val="5A6978"/>
                </a:solidFill>
                <a:latin typeface="Franklin Gothic Book"/>
              </a:defRPr>
            </a:pPr>
            <a:r>
              <a:t>Under the Supervision of:</a:t>
            </a:r>
          </a:p>
          <a:p>
            <a:pPr>
              <a:spcBef>
                <a:spcPts val="100"/>
              </a:spcBef>
              <a:defRPr sz="1600" b="1">
                <a:solidFill>
                  <a:srgbClr val="C00000"/>
                </a:solidFill>
                <a:latin typeface="Franklin Gothic Demi"/>
              </a:defRPr>
            </a:pPr>
            <a:r>
              <a:t>Dr. / Mr. [Name of Guide]</a:t>
            </a:r>
          </a:p>
          <a:p>
            <a:pPr>
              <a:defRPr sz="1300">
                <a:solidFill>
                  <a:srgbClr val="18202F"/>
                </a:solidFill>
                <a:latin typeface="Franklin Gothic Book"/>
              </a:defRPr>
            </a:pPr>
            <a:r>
              <a:t>Assistant Professor, Dept. of CSE, BIT Mesra, Jaipur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645920"/>
            <a:ext cx="51206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783080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2060"/>
                </a:solidFill>
                <a:latin typeface="Franklin Gothic Demi"/>
              </a:defRPr>
            </a:pPr>
            <a:r>
              <a:t>01. Introduction</a:t>
            </a:r>
          </a:p>
          <a:p>
            <a:pPr>
              <a:spcBef>
                <a:spcPts val="300"/>
              </a:spcBef>
              <a:defRPr sz="1250">
                <a:solidFill>
                  <a:srgbClr val="5A6978"/>
                </a:solidFill>
                <a:latin typeface="Franklin Gothic Book"/>
              </a:defRPr>
            </a:pPr>
            <a:r>
              <a:t>Why fake reviews are a major problem for online buyers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62072"/>
            <a:ext cx="51206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99232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2060"/>
                </a:solidFill>
                <a:latin typeface="Franklin Gothic Demi"/>
              </a:defRPr>
            </a:pPr>
            <a:r>
              <a:t>02. Problem Statement &amp; Objectives</a:t>
            </a:r>
          </a:p>
          <a:p>
            <a:pPr>
              <a:spcBef>
                <a:spcPts val="300"/>
              </a:spcBef>
              <a:defRPr sz="1250">
                <a:solidFill>
                  <a:srgbClr val="5A6978"/>
                </a:solidFill>
                <a:latin typeface="Franklin Gothic Book"/>
              </a:defRPr>
            </a:pPr>
            <a:r>
              <a:t>What problem we are solving and our project goals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78224"/>
            <a:ext cx="51206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215384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2060"/>
                </a:solidFill>
                <a:latin typeface="Franklin Gothic Demi"/>
              </a:defRPr>
            </a:pPr>
            <a:r>
              <a:t>03. Dataset Description</a:t>
            </a:r>
          </a:p>
          <a:p>
            <a:pPr>
              <a:spcBef>
                <a:spcPts val="300"/>
              </a:spcBef>
              <a:defRPr sz="1250">
                <a:solidFill>
                  <a:srgbClr val="5A6978"/>
                </a:solidFill>
                <a:latin typeface="Franklin Gothic Book"/>
              </a:defRPr>
            </a:pPr>
            <a:r>
              <a:t>40,000+ real and fake reviews used to train our AI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294376"/>
            <a:ext cx="51206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431536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2060"/>
                </a:solidFill>
                <a:latin typeface="Franklin Gothic Demi"/>
              </a:defRPr>
            </a:pPr>
            <a:r>
              <a:t>04. Design and Methodology</a:t>
            </a:r>
          </a:p>
          <a:p>
            <a:pPr>
              <a:spcBef>
                <a:spcPts val="300"/>
              </a:spcBef>
              <a:defRPr sz="1250">
                <a:solidFill>
                  <a:srgbClr val="5A6978"/>
                </a:solidFill>
                <a:latin typeface="Franklin Gothic Book"/>
              </a:defRPr>
            </a:pPr>
            <a:r>
              <a:t>Machine learning algorithms, Trust Score formula, &amp; system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1206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2060"/>
                </a:solidFill>
                <a:latin typeface="Franklin Gothic Demi"/>
              </a:defRPr>
            </a:pPr>
            <a:r>
              <a:t>05. Research Contributions</a:t>
            </a:r>
          </a:p>
          <a:p>
            <a:pPr>
              <a:spcBef>
                <a:spcPts val="300"/>
              </a:spcBef>
              <a:defRPr sz="1250">
                <a:solidFill>
                  <a:srgbClr val="5A6978"/>
                </a:solidFill>
                <a:latin typeface="Franklin Gothic Book"/>
              </a:defRPr>
            </a:pPr>
            <a:r>
              <a:t>What we built: real vs. fake rating comparison &amp; live web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862072"/>
            <a:ext cx="51206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999232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2060"/>
                </a:solidFill>
                <a:latin typeface="Franklin Gothic Demi"/>
              </a:defRPr>
            </a:pPr>
            <a:r>
              <a:t>06. Conclusions &amp; Next Steps</a:t>
            </a:r>
          </a:p>
          <a:p>
            <a:pPr>
              <a:spcBef>
                <a:spcPts val="300"/>
              </a:spcBef>
              <a:defRPr sz="1250">
                <a:solidFill>
                  <a:srgbClr val="5A6978"/>
                </a:solidFill>
                <a:latin typeface="Franklin Gothic Book"/>
              </a:defRPr>
            </a:pPr>
            <a:r>
              <a:t>What we achieved so far and our plan for the final semester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78224"/>
            <a:ext cx="51206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15384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2060"/>
                </a:solidFill>
                <a:latin typeface="Franklin Gothic Demi"/>
              </a:defRPr>
            </a:pPr>
            <a:r>
              <a:t>07. References</a:t>
            </a:r>
          </a:p>
          <a:p>
            <a:pPr>
              <a:spcBef>
                <a:spcPts val="300"/>
              </a:spcBef>
              <a:defRPr sz="1250">
                <a:solidFill>
                  <a:srgbClr val="5A6978"/>
                </a:solidFill>
                <a:latin typeface="Franklin Gothic Book"/>
              </a:defRPr>
            </a:pPr>
            <a:r>
              <a:t>Key research papers and tools used in this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645920"/>
            <a:ext cx="34290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20"/>
            <a:ext cx="29718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6A34A"/>
                </a:solidFill>
                <a:latin typeface="Franklin Gothic Demi"/>
              </a:defRPr>
            </a:pPr>
            <a:r>
              <a:t>Why Reviews Matter</a:t>
            </a:r>
          </a:p>
          <a:p>
            <a:pPr>
              <a:spcBef>
                <a:spcPts val="1400"/>
              </a:spcBef>
              <a:defRPr sz="1400">
                <a:solidFill>
                  <a:srgbClr val="18202F"/>
                </a:solidFill>
                <a:latin typeface="Franklin Gothic Book"/>
              </a:defRPr>
            </a:pPr>
            <a:r>
              <a:t>• 93% of customers check online reviews before making a purchase.</a:t>
            </a:r>
          </a:p>
          <a:p>
            <a:pPr>
              <a:spcBef>
                <a:spcPts val="1400"/>
              </a:spcBef>
              <a:defRPr sz="1400">
                <a:solidFill>
                  <a:srgbClr val="18202F"/>
                </a:solidFill>
                <a:latin typeface="Franklin Gothic Book"/>
              </a:defRPr>
            </a:pPr>
            <a:r>
              <a:t>• Star ratings decide which products show up first on Amazon and Flipkart.</a:t>
            </a:r>
          </a:p>
          <a:p>
            <a:pPr>
              <a:spcBef>
                <a:spcPts val="1400"/>
              </a:spcBef>
              <a:defRPr sz="1400">
                <a:solidFill>
                  <a:srgbClr val="18202F"/>
                </a:solidFill>
                <a:latin typeface="Franklin Gothic Book"/>
              </a:defRPr>
            </a:pPr>
            <a:r>
              <a:t>• Buyers trust reviews just like personal recommendations from friends.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645920"/>
            <a:ext cx="34290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0" y="1874520"/>
            <a:ext cx="29718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D97706"/>
                </a:solidFill>
                <a:latin typeface="Franklin Gothic Demi"/>
              </a:defRPr>
            </a:pPr>
            <a:r>
              <a:t>The Fake Review Problem</a:t>
            </a:r>
          </a:p>
          <a:p>
            <a:pPr>
              <a:spcBef>
                <a:spcPts val="1400"/>
              </a:spcBef>
              <a:defRPr sz="1400">
                <a:solidFill>
                  <a:srgbClr val="18202F"/>
                </a:solidFill>
                <a:latin typeface="Franklin Gothic Book"/>
              </a:defRPr>
            </a:pPr>
            <a:r>
              <a:t>• Many sellers buy fake 5-star reviews to boost sales and cheat search algorithms.</a:t>
            </a:r>
          </a:p>
          <a:p>
            <a:pPr>
              <a:spcBef>
                <a:spcPts val="1400"/>
              </a:spcBef>
              <a:defRPr sz="1400">
                <a:solidFill>
                  <a:srgbClr val="18202F"/>
                </a:solidFill>
                <a:latin typeface="Franklin Gothic Book"/>
              </a:defRPr>
            </a:pPr>
            <a:r>
              <a:t>• Computer bots and paid review groups write convincing reviews that sound genuine.</a:t>
            </a:r>
          </a:p>
          <a:p>
            <a:pPr>
              <a:spcBef>
                <a:spcPts val="1400"/>
              </a:spcBef>
              <a:defRPr sz="1400">
                <a:solidFill>
                  <a:srgbClr val="18202F"/>
                </a:solidFill>
                <a:latin typeface="Franklin Gothic Book"/>
              </a:defRPr>
            </a:pPr>
            <a:r>
              <a:t>• Buyers get misled into spending money on poor or defective products.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645920"/>
            <a:ext cx="34290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874520"/>
            <a:ext cx="29718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2060"/>
                </a:solidFill>
                <a:latin typeface="Franklin Gothic Demi"/>
              </a:defRPr>
            </a:pPr>
            <a:r>
              <a:t>Our Solution: TrustCheck</a:t>
            </a:r>
          </a:p>
          <a:p>
            <a:pPr>
              <a:spcBef>
                <a:spcPts val="1400"/>
              </a:spcBef>
              <a:defRPr sz="1400">
                <a:solidFill>
                  <a:srgbClr val="18202F"/>
                </a:solidFill>
                <a:latin typeface="Franklin Gothic Book"/>
              </a:defRPr>
            </a:pPr>
            <a:r>
              <a:t>• A smart web system that scans customer reviews using Machine Learning.</a:t>
            </a:r>
          </a:p>
          <a:p>
            <a:pPr>
              <a:spcBef>
                <a:spcPts val="1400"/>
              </a:spcBef>
              <a:defRPr sz="1400">
                <a:solidFill>
                  <a:srgbClr val="18202F"/>
                </a:solidFill>
                <a:latin typeface="Franklin Gothic Book"/>
              </a:defRPr>
            </a:pPr>
            <a:r>
              <a:t>• Automatically identifies whether each review is Genuine or Fake.</a:t>
            </a:r>
          </a:p>
          <a:p>
            <a:pPr>
              <a:spcBef>
                <a:spcPts val="1400"/>
              </a:spcBef>
              <a:defRPr sz="1400">
                <a:solidFill>
                  <a:srgbClr val="18202F"/>
                </a:solidFill>
                <a:latin typeface="Franklin Gothic Book"/>
              </a:defRPr>
            </a:pPr>
            <a:r>
              <a:t>• Calculates an honest Trust Score (0 to 100) so consumers know the real truth.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554480"/>
            <a:ext cx="105156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69164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C00000"/>
                </a:solidFill>
                <a:latin typeface="Franklin Gothic Demi"/>
              </a:defRPr>
            </a:pPr>
            <a:r>
              <a:t>THE PROBLEM WE ARE SOLVING</a:t>
            </a:r>
          </a:p>
          <a:p>
            <a:pPr>
              <a:spcBef>
                <a:spcPts val="300"/>
              </a:spcBef>
              <a:defRPr sz="1400">
                <a:solidFill>
                  <a:srgbClr val="18202F"/>
                </a:solidFill>
                <a:latin typeface="Franklin Gothic Book"/>
              </a:defRPr>
            </a:pPr>
            <a:r>
              <a:t>Shopping websites simply calculate the average of all reviews. When sellers flood a product with fake 5-star reviews, the rating looks great even when the product is poor. Normal buyers have no simple way to know the true rating.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971800"/>
            <a:ext cx="512064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136392"/>
            <a:ext cx="4663440" cy="1225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6A34A"/>
                </a:solidFill>
                <a:latin typeface="Franklin Gothic Demi"/>
              </a:defRPr>
            </a:pPr>
            <a:r>
              <a:t>Goal 1: Train an Accurate AI Model</a:t>
            </a:r>
          </a:p>
          <a:p>
            <a:pPr>
              <a:spcBef>
                <a:spcPts val="4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Build a Machine Learning model that classifies review text as Genuine or Fake with high accuracy.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71800"/>
            <a:ext cx="512064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3136392"/>
            <a:ext cx="4663440" cy="1225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6A34A"/>
                </a:solidFill>
                <a:latin typeface="Franklin Gothic Demi"/>
              </a:defRPr>
            </a:pPr>
            <a:r>
              <a:t>Goal 2: Calculate a Clear Trust Score</a:t>
            </a:r>
          </a:p>
          <a:p>
            <a:pPr>
              <a:spcBef>
                <a:spcPts val="4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Create a simple 0 to 100 Trust Score that reflects the true reliability of the product.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27448"/>
            <a:ext cx="512064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892040"/>
            <a:ext cx="4663440" cy="1225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6A34A"/>
                </a:solidFill>
                <a:latin typeface="Franklin Gothic Demi"/>
              </a:defRPr>
            </a:pPr>
            <a:r>
              <a:t>Goal 3: Reveal the Adjusted Real Rating</a:t>
            </a:r>
          </a:p>
          <a:p>
            <a:pPr>
              <a:spcBef>
                <a:spcPts val="4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Recalculate the product rating after filtering out the fake reviews so buyers see the genuine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727448"/>
            <a:ext cx="512064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892040"/>
            <a:ext cx="4663440" cy="1225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6A34A"/>
                </a:solidFill>
                <a:latin typeface="Franklin Gothic Demi"/>
              </a:defRPr>
            </a:pPr>
            <a:r>
              <a:t>Goal 4: Build an Easy Web Dashboard</a:t>
            </a:r>
          </a:p>
          <a:p>
            <a:pPr>
              <a:spcBef>
                <a:spcPts val="4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Create an intuitive, user-friendly website where anyone can paste reviews, upload a CSV, or test product links.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2060"/>
                </a:solidFill>
                <a:latin typeface="Franklin Gothic Demi"/>
              </a:defRPr>
            </a:pPr>
            <a:r>
              <a:t>THE DATASET USED</a:t>
            </a:r>
          </a:p>
          <a:p>
            <a:pPr>
              <a:spcBef>
                <a:spcPts val="200"/>
              </a:spcBef>
              <a:defRPr sz="2000" b="1">
                <a:solidFill>
                  <a:srgbClr val="18202F"/>
                </a:solidFill>
                <a:latin typeface="Franklin Gothic Demi"/>
              </a:defRPr>
            </a:pPr>
            <a:r>
              <a:t>Kaggle Fake Reviews Dataset</a:t>
            </a:r>
          </a:p>
          <a:p>
            <a:pPr>
              <a:spcBef>
                <a:spcPts val="9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• Total Reviews: 40,432 labeled product reviews.</a:t>
            </a:r>
          </a:p>
          <a:p>
            <a:pPr>
              <a:spcBef>
                <a:spcPts val="9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• Balanced Dataset: Exactly 50% Genuine reviews and 50% Fake reviews (prevents model bias).</a:t>
            </a:r>
          </a:p>
          <a:p>
            <a:pPr>
              <a:spcBef>
                <a:spcPts val="9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• Genuine Reviews (OR): Real customer experiences mentioning specific pros, cons, and usage details.</a:t>
            </a:r>
          </a:p>
          <a:p>
            <a:pPr>
              <a:spcBef>
                <a:spcPts val="9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• Fake Reviews (CG): Synthetic reviews generated by computer algorithms using repetitive praise.</a:t>
            </a:r>
          </a:p>
          <a:p>
            <a:pPr>
              <a:spcBef>
                <a:spcPts val="9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• Categories: Electronics, Home &amp; Kitchen, Sports, Books, Clothing, and Personal Care.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Franklin Gothic Demi"/>
              </a:defRPr>
            </a:pPr>
            <a:r>
              <a:t>TEXT PREPROCESSING</a:t>
            </a:r>
          </a:p>
          <a:p>
            <a:pPr>
              <a:spcBef>
                <a:spcPts val="200"/>
              </a:spcBef>
              <a:defRPr sz="2000" b="1">
                <a:solidFill>
                  <a:srgbClr val="18202F"/>
                </a:solidFill>
                <a:latin typeface="Franklin Gothic Demi"/>
              </a:defRPr>
            </a:pPr>
            <a:r>
              <a:t>How We Prepared the Text</a:t>
            </a:r>
          </a:p>
          <a:p>
            <a:pPr>
              <a:spcBef>
                <a:spcPts val="9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• Text Cleaning: Converted text to lowercase, removed punctuation, special characters, and extra spaces.</a:t>
            </a:r>
          </a:p>
          <a:p>
            <a:pPr>
              <a:spcBef>
                <a:spcPts val="9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• Stop-Word Removal: Filtered out common words like 'is', 'the', 'at' that don't help detect deception.</a:t>
            </a:r>
          </a:p>
          <a:p>
            <a:pPr>
              <a:spcBef>
                <a:spcPts val="9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• TF-IDF Vectorization: Converted text into numerical scores using single words and 2-word pairs ('must buy', 'not good').</a:t>
            </a:r>
          </a:p>
          <a:p>
            <a:pPr>
              <a:spcBef>
                <a:spcPts val="9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• Feature Selection: Kept top 5,000 most informative words so the model runs fast in under 50 milliseconds.</a:t>
            </a:r>
          </a:p>
          <a:p>
            <a:pPr>
              <a:spcBef>
                <a:spcPts val="9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• Train / Test Split: 80% used to train the model (32,345 reviews) and 20% kept to test accuracy (8,087 reviews).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78308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2060"/>
                </a:solidFill>
                <a:latin typeface="Franklin Gothic Demi"/>
              </a:defRPr>
            </a:pPr>
            <a:r>
              <a:t>ALGORITHMS TESTED</a:t>
            </a:r>
          </a:p>
          <a:p>
            <a:pPr>
              <a:spcBef>
                <a:spcPts val="200"/>
              </a:spcBef>
              <a:defRPr sz="1800" b="1">
                <a:solidFill>
                  <a:srgbClr val="18202F"/>
                </a:solidFill>
                <a:latin typeface="Franklin Gothic Demi"/>
              </a:defRPr>
            </a:pPr>
            <a:r>
              <a:t>Model Comparison &amp; Trust Metric</a:t>
            </a:r>
          </a:p>
          <a:p>
            <a:pPr>
              <a:spcBef>
                <a:spcPts val="600"/>
              </a:spcBef>
              <a:defRPr sz="1300" b="0">
                <a:solidFill>
                  <a:srgbClr val="18202F"/>
                </a:solidFill>
                <a:latin typeface="Franklin Gothic Book"/>
              </a:defRPr>
            </a:pPr>
            <a:r>
              <a:t>• We compared two Machine Learning algorithms on the same features:</a:t>
            </a:r>
          </a:p>
          <a:p>
            <a:pPr>
              <a:spcBef>
                <a:spcPts val="600"/>
              </a:spcBef>
              <a:defRPr sz="1300" b="0">
                <a:solidFill>
                  <a:srgbClr val="18202F"/>
                </a:solidFill>
                <a:latin typeface="Franklin Gothic Book"/>
              </a:defRPr>
            </a:pPr>
            <a:r>
              <a:t>1. Multinomial Naive Bayes: 85.2% Accuracy</a:t>
            </a:r>
          </a:p>
          <a:p>
            <a:pPr>
              <a:spcBef>
                <a:spcPts val="600"/>
              </a:spcBef>
              <a:defRPr sz="1300" b="1">
                <a:solidFill>
                  <a:srgbClr val="18202F"/>
                </a:solidFill>
                <a:latin typeface="Franklin Gothic Book"/>
              </a:defRPr>
            </a:pPr>
            <a:r>
              <a:t>2. Logistic Regression: 89.4% Accuracy (Selected as Champion)</a:t>
            </a:r>
          </a:p>
          <a:p>
            <a:pPr>
              <a:spcBef>
                <a:spcPts val="600"/>
              </a:spcBef>
              <a:defRPr sz="1300" b="0">
                <a:solidFill>
                  <a:srgbClr val="18202F"/>
                </a:solidFill>
                <a:latin typeface="Franklin Gothic Book"/>
              </a:defRPr>
            </a:pPr>
            <a:r>
              <a:t>• Why Logistic Regression? It understands word relationships better and makes fewer false accusations against honest reviews.</a:t>
            </a:r>
          </a:p>
          <a:p>
            <a:pPr>
              <a:spcBef>
                <a:spcPts val="600"/>
              </a:spcBef>
              <a:defRPr sz="1300" b="0">
                <a:solidFill>
                  <a:srgbClr val="18202F"/>
                </a:solidFill>
                <a:latin typeface="Franklin Gothic Book"/>
              </a:defRPr>
            </a:pPr>
            <a:r>
              <a:t>• Our Trust Score Formula:</a:t>
            </a:r>
          </a:p>
          <a:p>
            <a:pPr>
              <a:spcBef>
                <a:spcPts val="600"/>
              </a:spcBef>
              <a:defRPr sz="1300" b="1">
                <a:solidFill>
                  <a:srgbClr val="16A34A"/>
                </a:solidFill>
                <a:latin typeface="Franklin Gothic Demi"/>
              </a:defRPr>
            </a:pPr>
            <a:r>
              <a:t>       Trust Score = 100 - (Fake % x Confidence / 100)</a:t>
            </a:r>
          </a:p>
          <a:p>
            <a:pPr>
              <a:spcBef>
                <a:spcPts val="600"/>
              </a:spcBef>
              <a:defRPr sz="1300" b="0">
                <a:solidFill>
                  <a:srgbClr val="18202F"/>
                </a:solidFill>
                <a:latin typeface="Franklin Gothic Book"/>
              </a:defRPr>
            </a:pPr>
            <a:r>
              <a:t>• A product with 10% fake reviews at 50% confidence is penalized only 5 points, but many confident fakes drop the score heavily.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78308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Franklin Gothic Demi"/>
              </a:defRPr>
            </a:pPr>
            <a:r>
              <a:t>SYSTEM ARCHITECTURE</a:t>
            </a:r>
          </a:p>
          <a:p>
            <a:pPr>
              <a:spcBef>
                <a:spcPts val="200"/>
              </a:spcBef>
              <a:defRPr sz="1800" b="1">
                <a:solidFill>
                  <a:srgbClr val="18202F"/>
                </a:solidFill>
                <a:latin typeface="Franklin Gothic Demi"/>
              </a:defRPr>
            </a:pPr>
            <a:r>
              <a:t>How the System Works (4 Steps)</a:t>
            </a:r>
          </a:p>
          <a:p>
            <a:pPr>
              <a:spcBef>
                <a:spcPts val="800"/>
              </a:spcBef>
              <a:defRPr sz="1400" b="1">
                <a:solidFill>
                  <a:srgbClr val="002060"/>
                </a:solidFill>
                <a:latin typeface="Franklin Gothic Demi"/>
              </a:defRPr>
            </a:pPr>
            <a:r>
              <a:t>▶ Step 1: Input Reviews</a:t>
            </a:r>
          </a:p>
          <a:p>
            <a:pPr>
              <a:spcBef>
                <a:spcPts val="1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    User provides an Amazon/Flipkart link, uploads a CSV file, or pastes review text directly.</a:t>
            </a:r>
          </a:p>
          <a:p>
            <a:pPr>
              <a:spcBef>
                <a:spcPts val="800"/>
              </a:spcBef>
              <a:defRPr sz="1400" b="1">
                <a:solidFill>
                  <a:srgbClr val="002060"/>
                </a:solidFill>
                <a:latin typeface="Franklin Gothic Demi"/>
              </a:defRPr>
            </a:pPr>
            <a:r>
              <a:t>▶ Step 2: Clean &amp; Vectorize</a:t>
            </a:r>
          </a:p>
          <a:p>
            <a:pPr>
              <a:spcBef>
                <a:spcPts val="1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    Text is cleaned and converted into numerical TF-IDF feature vectors in under 10ms.</a:t>
            </a:r>
          </a:p>
          <a:p>
            <a:pPr>
              <a:spcBef>
                <a:spcPts val="800"/>
              </a:spcBef>
              <a:defRPr sz="1400" b="1">
                <a:solidFill>
                  <a:srgbClr val="002060"/>
                </a:solidFill>
                <a:latin typeface="Franklin Gothic Demi"/>
              </a:defRPr>
            </a:pPr>
            <a:r>
              <a:t>▶ Step 3: ML Model Prediction</a:t>
            </a:r>
          </a:p>
          <a:p>
            <a:pPr>
              <a:spcBef>
                <a:spcPts val="1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    The pre-trained Logistic Regression model predicts if each review is Genuine or Fake with a confidence %.</a:t>
            </a:r>
          </a:p>
          <a:p>
            <a:pPr>
              <a:spcBef>
                <a:spcPts val="800"/>
              </a:spcBef>
              <a:defRPr sz="1400" b="1">
                <a:solidFill>
                  <a:srgbClr val="002060"/>
                </a:solidFill>
                <a:latin typeface="Franklin Gothic Demi"/>
              </a:defRPr>
            </a:pPr>
            <a:r>
              <a:t>▶ Step 4: Interactive Dashboard</a:t>
            </a:r>
          </a:p>
          <a:p>
            <a:pPr>
              <a:spcBef>
                <a:spcPts val="1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    The web dashboard instantly displays the Trust Score, genuine average rating, and flagged keywords.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645920"/>
            <a:ext cx="512064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78308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6A34A"/>
                </a:solidFill>
                <a:latin typeface="Franklin Gothic Demi"/>
              </a:defRPr>
            </a:pPr>
            <a:r>
              <a:t>1. Dual-Rating Comparison</a:t>
            </a:r>
          </a:p>
          <a:p>
            <a:pPr>
              <a:spcBef>
                <a:spcPts val="3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• Shows the advertised rating right next to the Genuine-Only Rating.</a:t>
            </a:r>
          </a:p>
          <a:p>
            <a:pPr>
              <a:spcBef>
                <a:spcPts val="3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• Instantly exposes artificial rating inflation (e.g. 4.6★ advertised vs 3.8★ genuine).</a:t>
            </a:r>
          </a:p>
          <a:p>
            <a:pPr>
              <a:spcBef>
                <a:spcPts val="3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• Allows buyers to see what real verified customers actually experienced.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78308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2060"/>
                </a:solidFill>
                <a:latin typeface="Franklin Gothic Demi"/>
              </a:defRPr>
            </a:pPr>
            <a:r>
              <a:t>2. 4-Vector Review Forensics</a:t>
            </a:r>
          </a:p>
          <a:p>
            <a:pPr>
              <a:spcBef>
                <a:spcPts val="3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• Doesn't just give a blind label — explains why each review was flagged:</a:t>
            </a:r>
          </a:p>
          <a:p>
            <a:pPr>
              <a:spcBef>
                <a:spcPts val="3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• Language Risk: repetitive praise and extreme exaggeration ('best in history').</a:t>
            </a:r>
          </a:p>
          <a:p>
            <a:pPr>
              <a:spcBef>
                <a:spcPts val="3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• Template Risk: copy-pasted sentences shared across multiple products.</a:t>
            </a:r>
          </a:p>
          <a:p>
            <a:pPr>
              <a:spcBef>
                <a:spcPts val="3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• Behavior Risk: reviews lacking concrete product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512064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D97706"/>
                </a:solidFill>
                <a:latin typeface="Franklin Gothic Demi"/>
              </a:defRPr>
            </a:pPr>
            <a:r>
              <a:t>3. Live Storefront Scraping</a:t>
            </a:r>
          </a:p>
          <a:p>
            <a:pPr>
              <a:spcBef>
                <a:spcPts val="3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• Automatically extracts customer reviews from Amazon and Flipkart product links.</a:t>
            </a:r>
          </a:p>
          <a:p>
            <a:pPr>
              <a:spcBef>
                <a:spcPts val="3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• Uses a 2-stage scraper (BeautifulSoup + Selenium fallback) for high reliability.</a:t>
            </a:r>
          </a:p>
          <a:p>
            <a:pPr>
              <a:spcBef>
                <a:spcPts val="3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• Falls back gracefully to manual paste if a website is protected by CAPTCHAs.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12064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06908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C00000"/>
                </a:solidFill>
                <a:latin typeface="Franklin Gothic Demi"/>
              </a:defRPr>
            </a:pPr>
            <a:r>
              <a:t>4. Deployed Working System</a:t>
            </a:r>
          </a:p>
          <a:p>
            <a:pPr>
              <a:spcBef>
                <a:spcPts val="3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• Fully deployed and live on the internet at trust-check-rouge.vercel.app.</a:t>
            </a:r>
          </a:p>
          <a:p>
            <a:pPr>
              <a:spcBef>
                <a:spcPts val="3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• Sub-second analysis speed (under 50ms per batch).</a:t>
            </a:r>
          </a:p>
          <a:p>
            <a:pPr>
              <a:spcBef>
                <a:spcPts val="3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• 100% private: reviews are processed in memory and never saved to a database.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Franklin Gothic Demi"/>
              </a:defRPr>
            </a:pPr>
            <a:r>
              <a:t>MID-SEM ACHIEVEMENTS</a:t>
            </a:r>
          </a:p>
          <a:p>
            <a:pPr>
              <a:spcBef>
                <a:spcPts val="200"/>
              </a:spcBef>
              <a:defRPr sz="2000" b="1">
                <a:solidFill>
                  <a:srgbClr val="18202F"/>
                </a:solidFill>
                <a:latin typeface="Franklin Gothic Demi"/>
              </a:defRPr>
            </a:pPr>
            <a:r>
              <a:t>What Has Been Completed</a:t>
            </a:r>
          </a:p>
          <a:p>
            <a:pPr>
              <a:spcBef>
                <a:spcPts val="9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✔ Working AI Model: Built a machine learning model achieving 89.4% accuracy on 40,000+ reviews.</a:t>
            </a:r>
          </a:p>
          <a:p>
            <a:pPr>
              <a:spcBef>
                <a:spcPts val="9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✔ Dynamic Trust Score: Formulated an explainable 0–100 score that penalizes fake reviews proportionally.</a:t>
            </a:r>
          </a:p>
          <a:p>
            <a:pPr>
              <a:spcBef>
                <a:spcPts val="9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✔ Rating Inflation Proof: Verified that fake reviews inflate storefront ratings by an average of 0.5 to 0.9 stars.</a:t>
            </a:r>
          </a:p>
          <a:p>
            <a:pPr>
              <a:spcBef>
                <a:spcPts val="9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✔ Fast &amp; Lightweight: Model takes only ~12MB of RAM, making it fast and cheap to run.</a:t>
            </a:r>
          </a:p>
          <a:p>
            <a:pPr>
              <a:spcBef>
                <a:spcPts val="9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✔ Live Working Demo: Complete web dashboard deployed and accessible online for testing.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2060"/>
                </a:solidFill>
                <a:latin typeface="Franklin Gothic Demi"/>
              </a:defRPr>
            </a:pPr>
            <a:r>
              <a:t>END-SEM ROADMAP</a:t>
            </a:r>
          </a:p>
          <a:p>
            <a:pPr>
              <a:spcBef>
                <a:spcPts val="200"/>
              </a:spcBef>
              <a:defRPr sz="2000" b="1">
                <a:solidFill>
                  <a:srgbClr val="18202F"/>
                </a:solidFill>
                <a:latin typeface="Franklin Gothic Demi"/>
              </a:defRPr>
            </a:pPr>
            <a:r>
              <a:t>Next Steps for Final Semester</a:t>
            </a:r>
          </a:p>
          <a:p>
            <a:pPr>
              <a:spcBef>
                <a:spcPts val="12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▶ Test Deep Learning Models: Compare results with lightweight Transformers (DistilBERT) to handle sarcastic reviews.</a:t>
            </a:r>
          </a:p>
          <a:p>
            <a:pPr>
              <a:spcBef>
                <a:spcPts val="12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▶ Detect Review Bursts: Add timeline charts to flag when 50+ fake reviews are posted on the exact same date.</a:t>
            </a:r>
          </a:p>
          <a:p>
            <a:pPr>
              <a:spcBef>
                <a:spcPts val="12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▶ Chrome Browser Extension: Package TrustCheck into a browser extension so shoppers see Trust Scores directly on Amazon.</a:t>
            </a:r>
          </a:p>
          <a:p>
            <a:pPr>
              <a:spcBef>
                <a:spcPts val="1200"/>
              </a:spcBef>
              <a:defRPr sz="1350">
                <a:solidFill>
                  <a:srgbClr val="18202F"/>
                </a:solidFill>
                <a:latin typeface="Franklin Gothic Book"/>
              </a:defRPr>
            </a:pPr>
            <a:r>
              <a:t>▶ Indian Languages: Expand the dataset to understand reviews written in Hindi and Hinglish.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645920"/>
            <a:ext cx="105156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2060"/>
                </a:solidFill>
                <a:latin typeface="Franklin Gothic Demi"/>
              </a:defRPr>
            </a:pPr>
            <a:r>
              <a:t>[1]  Jindal, N., &amp; Liu, B. (2008)</a:t>
            </a:r>
          </a:p>
          <a:p>
            <a:pPr>
              <a:spcBef>
                <a:spcPts val="2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     'Opinion spam and analysis.' Proceedings of WSDM '08. (The foundational research paper defining review spam).</a:t>
            </a:r>
          </a:p>
          <a:p>
            <a:pPr>
              <a:spcBef>
                <a:spcPts val="800"/>
              </a:spcBef>
              <a:defRPr sz="1400" b="1">
                <a:solidFill>
                  <a:srgbClr val="002060"/>
                </a:solidFill>
                <a:latin typeface="Franklin Gothic Demi"/>
              </a:defRPr>
            </a:pPr>
            <a:r>
              <a:t>[2]  Ott, M., Choi, Y., Cardie, C., &amp; Hancock, J. (2011)</a:t>
            </a:r>
          </a:p>
          <a:p>
            <a:pPr>
              <a:spcBef>
                <a:spcPts val="2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     'Finding deceptive opinion spam by any stretch of the imagination.' Proceedings of ACL '11. (Standard benchmark for linguistic deception).</a:t>
            </a:r>
          </a:p>
          <a:p>
            <a:pPr>
              <a:spcBef>
                <a:spcPts val="800"/>
              </a:spcBef>
              <a:defRPr sz="1400" b="1">
                <a:solidFill>
                  <a:srgbClr val="002060"/>
                </a:solidFill>
                <a:latin typeface="Franklin Gothic Demi"/>
              </a:defRPr>
            </a:pPr>
            <a:r>
              <a:t>[3]  Salminen, J., et al. (2022)</a:t>
            </a:r>
          </a:p>
          <a:p>
            <a:pPr>
              <a:spcBef>
                <a:spcPts val="2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     'Creating and detecting fake reviews in online platforms.' Decision Support Systems. (Study on modern AI-generated fake reviews).</a:t>
            </a:r>
          </a:p>
          <a:p>
            <a:pPr>
              <a:spcBef>
                <a:spcPts val="800"/>
              </a:spcBef>
              <a:defRPr sz="1400" b="1">
                <a:solidFill>
                  <a:srgbClr val="002060"/>
                </a:solidFill>
                <a:latin typeface="Franklin Gothic Demi"/>
              </a:defRPr>
            </a:pPr>
            <a:r>
              <a:t>[4]  Scikit-Learn Documentation (2024)</a:t>
            </a:r>
          </a:p>
          <a:p>
            <a:pPr>
              <a:spcBef>
                <a:spcPts val="2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     Open-source Machine Learning in Python (TfidfVectorizer and LogisticRegression implementations).</a:t>
            </a:r>
          </a:p>
          <a:p>
            <a:pPr>
              <a:spcBef>
                <a:spcPts val="800"/>
              </a:spcBef>
              <a:defRPr sz="1400" b="1">
                <a:solidFill>
                  <a:srgbClr val="002060"/>
                </a:solidFill>
                <a:latin typeface="Franklin Gothic Demi"/>
              </a:defRPr>
            </a:pPr>
            <a:r>
              <a:t>[5]  Kaggle Dataset</a:t>
            </a:r>
          </a:p>
          <a:p>
            <a:pPr>
              <a:spcBef>
                <a:spcPts val="200"/>
              </a:spcBef>
              <a:defRPr sz="1250">
                <a:solidFill>
                  <a:srgbClr val="18202F"/>
                </a:solidFill>
                <a:latin typeface="Franklin Gothic Book"/>
              </a:defRPr>
            </a:pPr>
            <a:r>
              <a:t>     Fake Reviews Dataset: 40,432 labeled computer-generated and original customer reviews.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3108960"/>
            <a:ext cx="530352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3246120"/>
            <a:ext cx="48463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A6978"/>
                </a:solidFill>
                <a:latin typeface="Franklin Gothic Demi"/>
              </a:defRPr>
            </a:pPr>
            <a:r>
              <a:t>PROJECT TEAM (CSE / BCA):</a:t>
            </a:r>
          </a:p>
          <a:p>
            <a:pPr>
              <a:spcBef>
                <a:spcPts val="200"/>
              </a:spcBef>
              <a:defRPr sz="1400" b="1">
                <a:solidFill>
                  <a:srgbClr val="002060"/>
                </a:solidFill>
                <a:latin typeface="Franklin Gothic Demi"/>
              </a:defRPr>
            </a:pPr>
            <a:r>
              <a:t>• Muskan Papdiwal  [Roll No: [BCA/XXXXX/XX]]</a:t>
            </a:r>
          </a:p>
          <a:p>
            <a:pPr>
              <a:spcBef>
                <a:spcPts val="200"/>
              </a:spcBef>
              <a:defRPr sz="1400" b="1">
                <a:solidFill>
                  <a:srgbClr val="002060"/>
                </a:solidFill>
                <a:latin typeface="Franklin Gothic Demi"/>
              </a:defRPr>
            </a:pPr>
            <a:r>
              <a:t>• Team Member 2  [Roll No: [BCA/XXXXX/XX]]</a:t>
            </a:r>
          </a:p>
          <a:p>
            <a:pPr>
              <a:spcBef>
                <a:spcPts val="200"/>
              </a:spcBef>
              <a:defRPr sz="1400" b="1">
                <a:solidFill>
                  <a:srgbClr val="002060"/>
                </a:solidFill>
                <a:latin typeface="Franklin Gothic Demi"/>
              </a:defRPr>
            </a:pPr>
            <a:r>
              <a:t>• Team Member 3  [Roll No: [BCA/XXXXX/XX]]</a:t>
            </a:r>
          </a:p>
          <a:p>
            <a:pPr>
              <a:spcBef>
                <a:spcPts val="600"/>
              </a:spcBef>
              <a:defRPr sz="1200">
                <a:solidFill>
                  <a:srgbClr val="5A6978"/>
                </a:solidFill>
                <a:latin typeface="Franklin Gothic Book"/>
              </a:defRPr>
            </a:pPr>
            <a:r>
              <a:t>Under the Supervision of:</a:t>
            </a:r>
          </a:p>
          <a:p>
            <a:pPr>
              <a:spcBef>
                <a:spcPts val="200"/>
              </a:spcBef>
              <a:defRPr sz="1600" b="1">
                <a:solidFill>
                  <a:srgbClr val="C00000"/>
                </a:solidFill>
                <a:latin typeface="Franklin Gothic Demi"/>
              </a:defRPr>
            </a:pPr>
            <a:r>
              <a:t>Dr. / Mr. [Name of Guide]</a:t>
            </a:r>
          </a:p>
          <a:p>
            <a:pPr>
              <a:defRPr sz="1200">
                <a:solidFill>
                  <a:srgbClr val="18202F"/>
                </a:solidFill>
                <a:latin typeface="Franklin Gothic Book"/>
              </a:defRPr>
            </a:pPr>
            <a:r>
              <a:t>Assistant Professor, Dept. of CSE, BIT Mesra, Jaipur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3108960"/>
            <a:ext cx="484632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12280" y="3246120"/>
            <a:ext cx="43891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6A34A"/>
                </a:solidFill>
                <a:latin typeface="Franklin Gothic Demi"/>
              </a:defRPr>
            </a:pPr>
            <a:r>
              <a:t>QUESTIONS &amp; DISCUSSION</a:t>
            </a:r>
          </a:p>
          <a:p>
            <a:pPr>
              <a:spcBef>
                <a:spcPts val="400"/>
              </a:spcBef>
              <a:defRPr sz="1400">
                <a:solidFill>
                  <a:srgbClr val="18202F"/>
                </a:solidFill>
                <a:latin typeface="Franklin Gothic Book"/>
              </a:defRPr>
            </a:pPr>
            <a:r>
              <a:t>Thank you! We welcome any questions and feedback.</a:t>
            </a:r>
          </a:p>
          <a:p>
            <a:pPr>
              <a:spcBef>
                <a:spcPts val="600"/>
              </a:spcBef>
              <a:defRPr sz="1200" b="1">
                <a:solidFill>
                  <a:srgbClr val="002060"/>
                </a:solidFill>
                <a:latin typeface="Franklin Gothic Demi"/>
              </a:defRPr>
            </a:pPr>
            <a:r>
              <a:t>• Live Web App:</a:t>
            </a:r>
          </a:p>
          <a:p>
            <a:pPr>
              <a:spcBef>
                <a:spcPts val="100"/>
              </a:spcBef>
              <a:defRPr sz="1100">
                <a:solidFill>
                  <a:srgbClr val="5A6978"/>
                </a:solidFill>
                <a:latin typeface="Franklin Gothic Book"/>
              </a:defRPr>
            </a:pPr>
            <a:r>
              <a:t>   https://trust-check-rouge.vercel.app/</a:t>
            </a:r>
          </a:p>
          <a:p>
            <a:pPr>
              <a:spcBef>
                <a:spcPts val="600"/>
              </a:spcBef>
              <a:defRPr sz="1200" b="1">
                <a:solidFill>
                  <a:srgbClr val="002060"/>
                </a:solidFill>
                <a:latin typeface="Franklin Gothic Demi"/>
              </a:defRPr>
            </a:pPr>
            <a:r>
              <a:t>• Live Dashboard:</a:t>
            </a:r>
          </a:p>
          <a:p>
            <a:pPr>
              <a:spcBef>
                <a:spcPts val="100"/>
              </a:spcBef>
              <a:defRPr sz="1100">
                <a:solidFill>
                  <a:srgbClr val="5A6978"/>
                </a:solidFill>
                <a:latin typeface="Franklin Gothic Book"/>
              </a:defRPr>
            </a:pPr>
            <a:r>
              <a:t>   https://trust-check-rouge.vercel.app/dashboard</a:t>
            </a:r>
          </a:p>
          <a:p>
            <a:pPr>
              <a:spcBef>
                <a:spcPts val="600"/>
              </a:spcBef>
              <a:defRPr sz="1200" b="1">
                <a:solidFill>
                  <a:srgbClr val="002060"/>
                </a:solidFill>
                <a:latin typeface="Franklin Gothic Demi"/>
              </a:defRPr>
            </a:pPr>
            <a:r>
              <a:t>• GitHub Repository:</a:t>
            </a:r>
          </a:p>
          <a:p>
            <a:pPr>
              <a:spcBef>
                <a:spcPts val="100"/>
              </a:spcBef>
              <a:defRPr sz="1100">
                <a:solidFill>
                  <a:srgbClr val="5A6978"/>
                </a:solidFill>
                <a:latin typeface="Franklin Gothic Book"/>
              </a:defRPr>
            </a:pPr>
            <a:r>
              <a:t>   https://github.com/muskanpapdiwal/TrustCheck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